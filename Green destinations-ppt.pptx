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58" r:id="rId4"/>
    <p:sldId id="262" r:id="rId5"/>
    <p:sldId id="259" r:id="rId6"/>
    <p:sldId id="260" r:id="rId7"/>
    <p:sldId id="261" r:id="rId8"/>
    <p:sldId id="264" r:id="rId9"/>
    <p:sldId id="265" r:id="rId10"/>
    <p:sldId id="263" r:id="rId11"/>
    <p:sldId id="266" r:id="rId12"/>
    <p:sldId id="267" r:id="rId13"/>
    <p:sldId id="268" r:id="rId14"/>
    <p:sldId id="269" r:id="rId15"/>
    <p:sldId id="270" r:id="rId16"/>
    <p:sldId id="271"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430C0A-5464-4FE4-84EB-FF9C94016DF4}"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60C6404-AD6E-4860-8E75-697CA40B95DA}"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11/7/2025</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11/7/2025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11/7/2025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11/7/2025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6096000" y="0"/>
            <a:ext cx="6096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11/7/2025</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85000"/>
            </a:schemeClr>
          </a:solidFill>
        </p:spPr>
        <p:txBody>
          <a:bodyPr anchor="t"/>
          <a:lstStyle>
            <a:lvl1pPr marL="0" indent="0">
              <a:buNone/>
              <a:defRPr sz="32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chemeClr val="tx1"/>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11/7/2025</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chemeClr val="tx1">
                    <a:alpha val="70000"/>
                  </a:scheme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11/7/2025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231136" y="964692"/>
            <a:ext cx="7729728" cy="1188720"/>
          </a:xfrm>
          <a:prstGeom prst="rect">
            <a:avLst/>
          </a:prstGeom>
          <a:solidFill>
            <a:schemeClr val="bg1"/>
          </a:solidFill>
          <a:ln w="31750" cap="sq">
            <a:solidFill>
              <a:schemeClr val="tx1">
                <a:lumMod val="75000"/>
                <a:lumOff val="25000"/>
              </a:schemeClr>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11/7/2025</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chemeClr val="tx1">
              <a:lumMod val="85000"/>
              <a:lumOff val="15000"/>
            </a:schemeClr>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958D4-8FAF-568B-C978-E4B3F921CDA3}"/>
              </a:ext>
            </a:extLst>
          </p:cNvPr>
          <p:cNvSpPr>
            <a:spLocks noGrp="1"/>
          </p:cNvSpPr>
          <p:nvPr>
            <p:ph type="ctrTitle"/>
          </p:nvPr>
        </p:nvSpPr>
        <p:spPr/>
        <p:txBody>
          <a:bodyPr/>
          <a:lstStyle/>
          <a:p>
            <a:r>
              <a:rPr lang="en-IN" dirty="0"/>
              <a:t>Green destinations</a:t>
            </a:r>
          </a:p>
        </p:txBody>
      </p:sp>
      <p:sp>
        <p:nvSpPr>
          <p:cNvPr id="3" name="Subtitle 2">
            <a:extLst>
              <a:ext uri="{FF2B5EF4-FFF2-40B4-BE49-F238E27FC236}">
                <a16:creationId xmlns:a16="http://schemas.microsoft.com/office/drawing/2014/main" id="{66B1B514-A0A8-5245-29D3-5A34EB5846AC}"/>
              </a:ext>
            </a:extLst>
          </p:cNvPr>
          <p:cNvSpPr>
            <a:spLocks noGrp="1"/>
          </p:cNvSpPr>
          <p:nvPr>
            <p:ph type="subTitle" idx="1"/>
          </p:nvPr>
        </p:nvSpPr>
        <p:spPr/>
        <p:txBody>
          <a:bodyPr/>
          <a:lstStyle/>
          <a:p>
            <a:r>
              <a:rPr lang="en-IN" dirty="0"/>
              <a:t>By-</a:t>
            </a:r>
            <a:br>
              <a:rPr lang="en-IN" dirty="0"/>
            </a:br>
            <a:r>
              <a:rPr lang="en-IN" dirty="0" err="1"/>
              <a:t>Nissankara</a:t>
            </a:r>
            <a:r>
              <a:rPr lang="en-IN" dirty="0"/>
              <a:t> Rao Sushma</a:t>
            </a:r>
          </a:p>
        </p:txBody>
      </p:sp>
      <p:pic>
        <p:nvPicPr>
          <p:cNvPr id="5" name="Picture 4">
            <a:extLst>
              <a:ext uri="{FF2B5EF4-FFF2-40B4-BE49-F238E27FC236}">
                <a16:creationId xmlns:a16="http://schemas.microsoft.com/office/drawing/2014/main" id="{C004B1F7-BE23-1682-51E3-E3012DC277AD}"/>
              </a:ext>
            </a:extLst>
          </p:cNvPr>
          <p:cNvPicPr>
            <a:picLocks noChangeAspect="1"/>
          </p:cNvPicPr>
          <p:nvPr/>
        </p:nvPicPr>
        <p:blipFill>
          <a:blip r:embed="rId2"/>
          <a:stretch>
            <a:fillRect/>
          </a:stretch>
        </p:blipFill>
        <p:spPr>
          <a:xfrm>
            <a:off x="1669027" y="2481438"/>
            <a:ext cx="1592656" cy="728266"/>
          </a:xfrm>
          <a:prstGeom prst="rect">
            <a:avLst/>
          </a:prstGeom>
        </p:spPr>
      </p:pic>
    </p:spTree>
    <p:extLst>
      <p:ext uri="{BB962C8B-B14F-4D97-AF65-F5344CB8AC3E}">
        <p14:creationId xmlns:p14="http://schemas.microsoft.com/office/powerpoint/2010/main" val="34238603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9B6B8-CE4B-2A73-2965-1CA3B9C369B0}"/>
              </a:ext>
            </a:extLst>
          </p:cNvPr>
          <p:cNvSpPr>
            <a:spLocks noGrp="1"/>
          </p:cNvSpPr>
          <p:nvPr>
            <p:ph type="title"/>
          </p:nvPr>
        </p:nvSpPr>
        <p:spPr/>
        <p:txBody>
          <a:bodyPr/>
          <a:lstStyle/>
          <a:p>
            <a:r>
              <a:rPr lang="en-IN" dirty="0"/>
              <a:t>Project Statement</a:t>
            </a:r>
          </a:p>
        </p:txBody>
      </p:sp>
      <p:sp>
        <p:nvSpPr>
          <p:cNvPr id="3" name="Content Placeholder 2">
            <a:extLst>
              <a:ext uri="{FF2B5EF4-FFF2-40B4-BE49-F238E27FC236}">
                <a16:creationId xmlns:a16="http://schemas.microsoft.com/office/drawing/2014/main" id="{B7A3CD47-090B-1723-A3C9-2E6ACB8A13E2}"/>
              </a:ext>
            </a:extLst>
          </p:cNvPr>
          <p:cNvSpPr>
            <a:spLocks noGrp="1"/>
          </p:cNvSpPr>
          <p:nvPr>
            <p:ph idx="1"/>
          </p:nvPr>
        </p:nvSpPr>
        <p:spPr/>
        <p:txBody>
          <a:bodyPr/>
          <a:lstStyle/>
          <a:p>
            <a:r>
              <a:rPr lang="en-US" dirty="0"/>
              <a:t>Green Destinations is a well-known travel agency. The HR Director has recently noticed an increase in employees leaving (attrition). She would like to figure out any trends or patterns. She has surveyed the staff of Green Destinations and provided you with the data. She would like to know what the attrition rate is (% of people who have left). She would also like to know if factors like age, years at the company and income play a part in determining if people will leave or not. </a:t>
            </a:r>
            <a:endParaRPr lang="en-IN" dirty="0"/>
          </a:p>
        </p:txBody>
      </p:sp>
    </p:spTree>
    <p:extLst>
      <p:ext uri="{BB962C8B-B14F-4D97-AF65-F5344CB8AC3E}">
        <p14:creationId xmlns:p14="http://schemas.microsoft.com/office/powerpoint/2010/main" val="3794369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1B9F9-98C0-3C27-4B2A-50EA79AB4C0A}"/>
              </a:ext>
            </a:extLst>
          </p:cNvPr>
          <p:cNvSpPr>
            <a:spLocks noGrp="1"/>
          </p:cNvSpPr>
          <p:nvPr>
            <p:ph type="title"/>
          </p:nvPr>
        </p:nvSpPr>
        <p:spPr/>
        <p:txBody>
          <a:bodyPr/>
          <a:lstStyle/>
          <a:p>
            <a:r>
              <a:rPr lang="en-IN" dirty="0"/>
              <a:t>Objective</a:t>
            </a:r>
          </a:p>
        </p:txBody>
      </p:sp>
      <p:sp>
        <p:nvSpPr>
          <p:cNvPr id="3" name="Content Placeholder 2">
            <a:extLst>
              <a:ext uri="{FF2B5EF4-FFF2-40B4-BE49-F238E27FC236}">
                <a16:creationId xmlns:a16="http://schemas.microsoft.com/office/drawing/2014/main" id="{6562A97E-1BA9-18DC-3126-6E846DB64C68}"/>
              </a:ext>
            </a:extLst>
          </p:cNvPr>
          <p:cNvSpPr>
            <a:spLocks noGrp="1"/>
          </p:cNvSpPr>
          <p:nvPr>
            <p:ph idx="1"/>
          </p:nvPr>
        </p:nvSpPr>
        <p:spPr/>
        <p:txBody>
          <a:bodyPr>
            <a:normAutofit/>
          </a:bodyPr>
          <a:lstStyle/>
          <a:p>
            <a:pPr marL="0" indent="0">
              <a:buNone/>
            </a:pPr>
            <a:r>
              <a:rPr lang="en-US" dirty="0"/>
              <a:t>To analyze employee attrition data for Green Destinations in order to:</a:t>
            </a:r>
          </a:p>
          <a:p>
            <a:r>
              <a:rPr lang="en-US" dirty="0"/>
              <a:t>Calculate the overall attrition rate (percentage of employees who have left).</a:t>
            </a:r>
          </a:p>
          <a:p>
            <a:r>
              <a:rPr lang="en-US" dirty="0"/>
              <a:t>Identify key factors influencing attrition, such as:</a:t>
            </a:r>
          </a:p>
          <a:p>
            <a:pPr lvl="1"/>
            <a:r>
              <a:rPr lang="en-US" dirty="0"/>
              <a:t>Age</a:t>
            </a:r>
          </a:p>
          <a:p>
            <a:pPr lvl="1"/>
            <a:r>
              <a:rPr lang="en-US" dirty="0"/>
              <a:t>Years at the company</a:t>
            </a:r>
          </a:p>
          <a:p>
            <a:pPr lvl="1"/>
            <a:r>
              <a:rPr lang="en-US" dirty="0"/>
              <a:t>Monthly income</a:t>
            </a:r>
          </a:p>
          <a:p>
            <a:r>
              <a:rPr lang="en-US" dirty="0"/>
              <a:t>Discover patterns or trends that can help the HR Director understand why employees leave and develop strategies to reduce attrition.</a:t>
            </a:r>
          </a:p>
          <a:p>
            <a:endParaRPr lang="en-IN" dirty="0"/>
          </a:p>
        </p:txBody>
      </p:sp>
    </p:spTree>
    <p:extLst>
      <p:ext uri="{BB962C8B-B14F-4D97-AF65-F5344CB8AC3E}">
        <p14:creationId xmlns:p14="http://schemas.microsoft.com/office/powerpoint/2010/main" val="1532176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CB0DAF-5B45-C7BA-1ED7-C7715AF07EE3}"/>
              </a:ext>
            </a:extLst>
          </p:cNvPr>
          <p:cNvSpPr>
            <a:spLocks noGrp="1"/>
          </p:cNvSpPr>
          <p:nvPr>
            <p:ph type="title"/>
          </p:nvPr>
        </p:nvSpPr>
        <p:spPr>
          <a:xfrm>
            <a:off x="1125793" y="561570"/>
            <a:ext cx="9940413" cy="726456"/>
          </a:xfrm>
        </p:spPr>
        <p:txBody>
          <a:bodyPr>
            <a:normAutofit fontScale="90000"/>
          </a:bodyPr>
          <a:lstStyle/>
          <a:p>
            <a:r>
              <a:rPr lang="en-IN" dirty="0"/>
              <a:t>Project Architecture – Data Flow Diagram</a:t>
            </a:r>
          </a:p>
        </p:txBody>
      </p:sp>
      <p:pic>
        <p:nvPicPr>
          <p:cNvPr id="5" name="Picture 4">
            <a:extLst>
              <a:ext uri="{FF2B5EF4-FFF2-40B4-BE49-F238E27FC236}">
                <a16:creationId xmlns:a16="http://schemas.microsoft.com/office/drawing/2014/main" id="{2D586AE5-FD9D-7866-30C9-7EAA7C0390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1794" y="1541254"/>
            <a:ext cx="10948409" cy="4928371"/>
          </a:xfrm>
          <a:prstGeom prst="rect">
            <a:avLst/>
          </a:prstGeom>
        </p:spPr>
      </p:pic>
    </p:spTree>
    <p:extLst>
      <p:ext uri="{BB962C8B-B14F-4D97-AF65-F5344CB8AC3E}">
        <p14:creationId xmlns:p14="http://schemas.microsoft.com/office/powerpoint/2010/main" val="1950310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329CBEE-F502-3CAF-2B1D-8DD23D3C9CB1}"/>
              </a:ext>
            </a:extLst>
          </p:cNvPr>
          <p:cNvSpPr>
            <a:spLocks noGrp="1"/>
          </p:cNvSpPr>
          <p:nvPr>
            <p:ph type="title"/>
          </p:nvPr>
        </p:nvSpPr>
        <p:spPr/>
        <p:txBody>
          <a:bodyPr/>
          <a:lstStyle/>
          <a:p>
            <a:r>
              <a:rPr lang="en-IN" dirty="0"/>
              <a:t>Data dictionary</a:t>
            </a:r>
          </a:p>
        </p:txBody>
      </p:sp>
      <p:graphicFrame>
        <p:nvGraphicFramePr>
          <p:cNvPr id="11" name="Table 10">
            <a:extLst>
              <a:ext uri="{FF2B5EF4-FFF2-40B4-BE49-F238E27FC236}">
                <a16:creationId xmlns:a16="http://schemas.microsoft.com/office/drawing/2014/main" id="{9687E73C-8020-3E13-B34D-B6B06BAFED60}"/>
              </a:ext>
            </a:extLst>
          </p:cNvPr>
          <p:cNvGraphicFramePr>
            <a:graphicFrameLocks noGrp="1"/>
          </p:cNvGraphicFramePr>
          <p:nvPr>
            <p:extLst>
              <p:ext uri="{D42A27DB-BD31-4B8C-83A1-F6EECF244321}">
                <p14:modId xmlns:p14="http://schemas.microsoft.com/office/powerpoint/2010/main" val="692828524"/>
              </p:ext>
            </p:extLst>
          </p:nvPr>
        </p:nvGraphicFramePr>
        <p:xfrm>
          <a:off x="6359644" y="314632"/>
          <a:ext cx="5616046" cy="6076333"/>
        </p:xfrm>
        <a:graphic>
          <a:graphicData uri="http://schemas.openxmlformats.org/drawingml/2006/table">
            <a:tbl>
              <a:tblPr>
                <a:tableStyleId>{8EC20E35-A176-4012-BC5E-935CFFF8708E}</a:tableStyleId>
              </a:tblPr>
              <a:tblGrid>
                <a:gridCol w="2808023">
                  <a:extLst>
                    <a:ext uri="{9D8B030D-6E8A-4147-A177-3AD203B41FA5}">
                      <a16:colId xmlns:a16="http://schemas.microsoft.com/office/drawing/2014/main" val="719464400"/>
                    </a:ext>
                  </a:extLst>
                </a:gridCol>
                <a:gridCol w="2808023">
                  <a:extLst>
                    <a:ext uri="{9D8B030D-6E8A-4147-A177-3AD203B41FA5}">
                      <a16:colId xmlns:a16="http://schemas.microsoft.com/office/drawing/2014/main" val="3797166526"/>
                    </a:ext>
                  </a:extLst>
                </a:gridCol>
              </a:tblGrid>
              <a:tr h="496027">
                <a:tc>
                  <a:txBody>
                    <a:bodyPr/>
                    <a:lstStyle/>
                    <a:p>
                      <a:pPr>
                        <a:buNone/>
                      </a:pPr>
                      <a:r>
                        <a:rPr lang="en-IN" sz="1200" b="1"/>
                        <a:t>Column Name</a:t>
                      </a:r>
                      <a:endParaRPr lang="en-IN" sz="1200"/>
                    </a:p>
                  </a:txBody>
                  <a:tcPr marL="63306" marR="63306" marT="31653" marB="31653" anchor="ctr"/>
                </a:tc>
                <a:tc>
                  <a:txBody>
                    <a:bodyPr/>
                    <a:lstStyle/>
                    <a:p>
                      <a:pPr>
                        <a:buNone/>
                      </a:pPr>
                      <a:r>
                        <a:rPr lang="en-IN" sz="1200" b="1"/>
                        <a:t>Description</a:t>
                      </a:r>
                      <a:endParaRPr lang="en-IN" sz="1200"/>
                    </a:p>
                  </a:txBody>
                  <a:tcPr marL="63306" marR="63306" marT="31653" marB="31653" anchor="ctr"/>
                </a:tc>
                <a:extLst>
                  <a:ext uri="{0D108BD9-81ED-4DB2-BD59-A6C34878D82A}">
                    <a16:rowId xmlns:a16="http://schemas.microsoft.com/office/drawing/2014/main" val="549432707"/>
                  </a:ext>
                </a:extLst>
              </a:tr>
              <a:tr h="496027">
                <a:tc>
                  <a:txBody>
                    <a:bodyPr/>
                    <a:lstStyle/>
                    <a:p>
                      <a:pPr>
                        <a:buNone/>
                      </a:pPr>
                      <a:r>
                        <a:rPr lang="en-IN" sz="1200" dirty="0"/>
                        <a:t>Age</a:t>
                      </a:r>
                    </a:p>
                  </a:txBody>
                  <a:tcPr marL="63306" marR="63306" marT="31653" marB="31653" anchor="ctr"/>
                </a:tc>
                <a:tc>
                  <a:txBody>
                    <a:bodyPr/>
                    <a:lstStyle/>
                    <a:p>
                      <a:pPr>
                        <a:buNone/>
                      </a:pPr>
                      <a:r>
                        <a:rPr lang="en-IN" sz="1200"/>
                        <a:t>Age of the employee</a:t>
                      </a:r>
                    </a:p>
                  </a:txBody>
                  <a:tcPr marL="63306" marR="63306" marT="31653" marB="31653" anchor="ctr"/>
                </a:tc>
                <a:extLst>
                  <a:ext uri="{0D108BD9-81ED-4DB2-BD59-A6C34878D82A}">
                    <a16:rowId xmlns:a16="http://schemas.microsoft.com/office/drawing/2014/main" val="3904930624"/>
                  </a:ext>
                </a:extLst>
              </a:tr>
              <a:tr h="496027">
                <a:tc>
                  <a:txBody>
                    <a:bodyPr/>
                    <a:lstStyle/>
                    <a:p>
                      <a:pPr>
                        <a:buNone/>
                      </a:pPr>
                      <a:r>
                        <a:rPr lang="en-IN" sz="1200"/>
                        <a:t>Gender</a:t>
                      </a:r>
                    </a:p>
                  </a:txBody>
                  <a:tcPr marL="63306" marR="63306" marT="31653" marB="31653" anchor="ctr"/>
                </a:tc>
                <a:tc>
                  <a:txBody>
                    <a:bodyPr/>
                    <a:lstStyle/>
                    <a:p>
                      <a:pPr>
                        <a:buNone/>
                      </a:pPr>
                      <a:r>
                        <a:rPr lang="en-IN" sz="1200"/>
                        <a:t>Gender of the employee</a:t>
                      </a:r>
                    </a:p>
                  </a:txBody>
                  <a:tcPr marL="63306" marR="63306" marT="31653" marB="31653" anchor="ctr"/>
                </a:tc>
                <a:extLst>
                  <a:ext uri="{0D108BD9-81ED-4DB2-BD59-A6C34878D82A}">
                    <a16:rowId xmlns:a16="http://schemas.microsoft.com/office/drawing/2014/main" val="176737244"/>
                  </a:ext>
                </a:extLst>
              </a:tr>
              <a:tr h="868048">
                <a:tc>
                  <a:txBody>
                    <a:bodyPr/>
                    <a:lstStyle/>
                    <a:p>
                      <a:pPr>
                        <a:buNone/>
                      </a:pPr>
                      <a:r>
                        <a:rPr lang="en-IN" sz="1200"/>
                        <a:t>MaritalStatus</a:t>
                      </a:r>
                    </a:p>
                  </a:txBody>
                  <a:tcPr marL="63306" marR="63306" marT="31653" marB="31653" anchor="ctr"/>
                </a:tc>
                <a:tc>
                  <a:txBody>
                    <a:bodyPr/>
                    <a:lstStyle/>
                    <a:p>
                      <a:pPr>
                        <a:buNone/>
                      </a:pPr>
                      <a:r>
                        <a:rPr lang="en-US" sz="1200" dirty="0"/>
                        <a:t>Marital status (Single, Married, Divorced)</a:t>
                      </a:r>
                    </a:p>
                  </a:txBody>
                  <a:tcPr marL="63306" marR="63306" marT="31653" marB="31653" anchor="ctr"/>
                </a:tc>
                <a:extLst>
                  <a:ext uri="{0D108BD9-81ED-4DB2-BD59-A6C34878D82A}">
                    <a16:rowId xmlns:a16="http://schemas.microsoft.com/office/drawing/2014/main" val="3383446446"/>
                  </a:ext>
                </a:extLst>
              </a:tr>
              <a:tr h="868048">
                <a:tc>
                  <a:txBody>
                    <a:bodyPr/>
                    <a:lstStyle/>
                    <a:p>
                      <a:pPr>
                        <a:buNone/>
                      </a:pPr>
                      <a:r>
                        <a:rPr lang="en-IN" sz="1200"/>
                        <a:t>Education</a:t>
                      </a:r>
                    </a:p>
                  </a:txBody>
                  <a:tcPr marL="63306" marR="63306" marT="31653" marB="31653" anchor="ctr"/>
                </a:tc>
                <a:tc>
                  <a:txBody>
                    <a:bodyPr/>
                    <a:lstStyle/>
                    <a:p>
                      <a:pPr>
                        <a:buNone/>
                      </a:pPr>
                      <a:r>
                        <a:rPr lang="en-US" sz="1200"/>
                        <a:t>Education level (1 = Below College → 5 = Doctor)</a:t>
                      </a:r>
                    </a:p>
                  </a:txBody>
                  <a:tcPr marL="63306" marR="63306" marT="31653" marB="31653" anchor="ctr"/>
                </a:tc>
                <a:extLst>
                  <a:ext uri="{0D108BD9-81ED-4DB2-BD59-A6C34878D82A}">
                    <a16:rowId xmlns:a16="http://schemas.microsoft.com/office/drawing/2014/main" val="1368113718"/>
                  </a:ext>
                </a:extLst>
              </a:tr>
              <a:tr h="868048">
                <a:tc>
                  <a:txBody>
                    <a:bodyPr/>
                    <a:lstStyle/>
                    <a:p>
                      <a:pPr>
                        <a:buNone/>
                      </a:pPr>
                      <a:r>
                        <a:rPr lang="en-IN" sz="1200"/>
                        <a:t>EducationField</a:t>
                      </a:r>
                    </a:p>
                  </a:txBody>
                  <a:tcPr marL="63306" marR="63306" marT="31653" marB="31653" anchor="ctr"/>
                </a:tc>
                <a:tc>
                  <a:txBody>
                    <a:bodyPr/>
                    <a:lstStyle/>
                    <a:p>
                      <a:pPr>
                        <a:buNone/>
                      </a:pPr>
                      <a:r>
                        <a:rPr lang="en-US" sz="1200"/>
                        <a:t>Field of study (Life Sciences, Technical, etc.)</a:t>
                      </a:r>
                    </a:p>
                  </a:txBody>
                  <a:tcPr marL="63306" marR="63306" marT="31653" marB="31653" anchor="ctr"/>
                </a:tc>
                <a:extLst>
                  <a:ext uri="{0D108BD9-81ED-4DB2-BD59-A6C34878D82A}">
                    <a16:rowId xmlns:a16="http://schemas.microsoft.com/office/drawing/2014/main" val="142875495"/>
                  </a:ext>
                </a:extLst>
              </a:tr>
              <a:tr h="496027">
                <a:tc>
                  <a:txBody>
                    <a:bodyPr/>
                    <a:lstStyle/>
                    <a:p>
                      <a:pPr>
                        <a:buNone/>
                      </a:pPr>
                      <a:r>
                        <a:rPr lang="en-IN" sz="1200"/>
                        <a:t>DistanceFromHome</a:t>
                      </a:r>
                    </a:p>
                  </a:txBody>
                  <a:tcPr marL="63306" marR="63306" marT="31653" marB="31653" anchor="ctr"/>
                </a:tc>
                <a:tc>
                  <a:txBody>
                    <a:bodyPr/>
                    <a:lstStyle/>
                    <a:p>
                      <a:pPr>
                        <a:buNone/>
                      </a:pPr>
                      <a:r>
                        <a:rPr lang="en-US" sz="1200"/>
                        <a:t>Distance between home and workplace</a:t>
                      </a:r>
                    </a:p>
                  </a:txBody>
                  <a:tcPr marL="63306" marR="63306" marT="31653" marB="31653" anchor="ctr"/>
                </a:tc>
                <a:extLst>
                  <a:ext uri="{0D108BD9-81ED-4DB2-BD59-A6C34878D82A}">
                    <a16:rowId xmlns:a16="http://schemas.microsoft.com/office/drawing/2014/main" val="4046451947"/>
                  </a:ext>
                </a:extLst>
              </a:tr>
              <a:tr h="496027">
                <a:tc>
                  <a:txBody>
                    <a:bodyPr/>
                    <a:lstStyle/>
                    <a:p>
                      <a:pPr>
                        <a:buNone/>
                      </a:pPr>
                      <a:r>
                        <a:rPr lang="en-IN" sz="1200"/>
                        <a:t>NumCompaniesWorked</a:t>
                      </a:r>
                    </a:p>
                  </a:txBody>
                  <a:tcPr marL="63306" marR="63306" marT="31653" marB="31653" anchor="ctr"/>
                </a:tc>
                <a:tc>
                  <a:txBody>
                    <a:bodyPr/>
                    <a:lstStyle/>
                    <a:p>
                      <a:pPr>
                        <a:buNone/>
                      </a:pPr>
                      <a:r>
                        <a:rPr lang="en-US" sz="1200"/>
                        <a:t>Number of companies worked before</a:t>
                      </a:r>
                    </a:p>
                  </a:txBody>
                  <a:tcPr marL="63306" marR="63306" marT="31653" marB="31653" anchor="ctr"/>
                </a:tc>
                <a:extLst>
                  <a:ext uri="{0D108BD9-81ED-4DB2-BD59-A6C34878D82A}">
                    <a16:rowId xmlns:a16="http://schemas.microsoft.com/office/drawing/2014/main" val="1582271217"/>
                  </a:ext>
                </a:extLst>
              </a:tr>
              <a:tr h="496027">
                <a:tc>
                  <a:txBody>
                    <a:bodyPr/>
                    <a:lstStyle/>
                    <a:p>
                      <a:pPr>
                        <a:buNone/>
                      </a:pPr>
                      <a:r>
                        <a:rPr lang="en-IN" sz="1200"/>
                        <a:t>Over18</a:t>
                      </a:r>
                    </a:p>
                  </a:txBody>
                  <a:tcPr marL="63306" marR="63306" marT="31653" marB="31653" anchor="ctr"/>
                </a:tc>
                <a:tc>
                  <a:txBody>
                    <a:bodyPr/>
                    <a:lstStyle/>
                    <a:p>
                      <a:pPr>
                        <a:buNone/>
                      </a:pPr>
                      <a:r>
                        <a:rPr lang="en-US" sz="1200"/>
                        <a:t>Whether employee is over 18 years old</a:t>
                      </a:r>
                    </a:p>
                  </a:txBody>
                  <a:tcPr marL="63306" marR="63306" marT="31653" marB="31653" anchor="ctr"/>
                </a:tc>
                <a:extLst>
                  <a:ext uri="{0D108BD9-81ED-4DB2-BD59-A6C34878D82A}">
                    <a16:rowId xmlns:a16="http://schemas.microsoft.com/office/drawing/2014/main" val="2069819609"/>
                  </a:ext>
                </a:extLst>
              </a:tr>
              <a:tr h="496027">
                <a:tc>
                  <a:txBody>
                    <a:bodyPr/>
                    <a:lstStyle/>
                    <a:p>
                      <a:pPr>
                        <a:buNone/>
                      </a:pPr>
                      <a:r>
                        <a:rPr lang="en-IN" sz="1200"/>
                        <a:t>TotalWorkingYears</a:t>
                      </a:r>
                    </a:p>
                  </a:txBody>
                  <a:tcPr marL="63306" marR="63306" marT="31653" marB="31653" anchor="ctr"/>
                </a:tc>
                <a:tc>
                  <a:txBody>
                    <a:bodyPr/>
                    <a:lstStyle/>
                    <a:p>
                      <a:pPr>
                        <a:buNone/>
                      </a:pPr>
                      <a:r>
                        <a:rPr lang="en-US" sz="1200" dirty="0"/>
                        <a:t>Total years of professional experience</a:t>
                      </a:r>
                    </a:p>
                  </a:txBody>
                  <a:tcPr marL="63306" marR="63306" marT="31653" marB="31653" anchor="ctr"/>
                </a:tc>
                <a:extLst>
                  <a:ext uri="{0D108BD9-81ED-4DB2-BD59-A6C34878D82A}">
                    <a16:rowId xmlns:a16="http://schemas.microsoft.com/office/drawing/2014/main" val="151471488"/>
                  </a:ext>
                </a:extLst>
              </a:tr>
            </a:tbl>
          </a:graphicData>
        </a:graphic>
      </p:graphicFrame>
    </p:spTree>
    <p:extLst>
      <p:ext uri="{BB962C8B-B14F-4D97-AF65-F5344CB8AC3E}">
        <p14:creationId xmlns:p14="http://schemas.microsoft.com/office/powerpoint/2010/main" val="9497841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4255B-055F-2AA0-D9D7-57A114F2A205}"/>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FA5ED8DE-22AA-EDBA-FA29-A9E5391E49E0}"/>
              </a:ext>
            </a:extLst>
          </p:cNvPr>
          <p:cNvSpPr>
            <a:spLocks noGrp="1"/>
          </p:cNvSpPr>
          <p:nvPr>
            <p:ph type="title"/>
          </p:nvPr>
        </p:nvSpPr>
        <p:spPr/>
        <p:txBody>
          <a:bodyPr/>
          <a:lstStyle/>
          <a:p>
            <a:r>
              <a:rPr lang="en-IN" dirty="0"/>
              <a:t>Data dictionary</a:t>
            </a:r>
          </a:p>
        </p:txBody>
      </p:sp>
      <p:graphicFrame>
        <p:nvGraphicFramePr>
          <p:cNvPr id="2" name="Table 1">
            <a:extLst>
              <a:ext uri="{FF2B5EF4-FFF2-40B4-BE49-F238E27FC236}">
                <a16:creationId xmlns:a16="http://schemas.microsoft.com/office/drawing/2014/main" id="{AD222F71-8E1A-AC48-DF6B-D42992A2A60F}"/>
              </a:ext>
            </a:extLst>
          </p:cNvPr>
          <p:cNvGraphicFramePr>
            <a:graphicFrameLocks noGrp="1"/>
          </p:cNvGraphicFramePr>
          <p:nvPr>
            <p:extLst>
              <p:ext uri="{D42A27DB-BD31-4B8C-83A1-F6EECF244321}">
                <p14:modId xmlns:p14="http://schemas.microsoft.com/office/powerpoint/2010/main" val="1665559240"/>
              </p:ext>
            </p:extLst>
          </p:nvPr>
        </p:nvGraphicFramePr>
        <p:xfrm>
          <a:off x="6288789" y="195446"/>
          <a:ext cx="5627908" cy="6293840"/>
        </p:xfrm>
        <a:graphic>
          <a:graphicData uri="http://schemas.openxmlformats.org/drawingml/2006/table">
            <a:tbl>
              <a:tblPr>
                <a:tableStyleId>{8EC20E35-A176-4012-BC5E-935CFFF8708E}</a:tableStyleId>
              </a:tblPr>
              <a:tblGrid>
                <a:gridCol w="2813954">
                  <a:extLst>
                    <a:ext uri="{9D8B030D-6E8A-4147-A177-3AD203B41FA5}">
                      <a16:colId xmlns:a16="http://schemas.microsoft.com/office/drawing/2014/main" val="4180553326"/>
                    </a:ext>
                  </a:extLst>
                </a:gridCol>
                <a:gridCol w="2813954">
                  <a:extLst>
                    <a:ext uri="{9D8B030D-6E8A-4147-A177-3AD203B41FA5}">
                      <a16:colId xmlns:a16="http://schemas.microsoft.com/office/drawing/2014/main" val="3876723753"/>
                    </a:ext>
                  </a:extLst>
                </a:gridCol>
              </a:tblGrid>
              <a:tr h="393365">
                <a:tc>
                  <a:txBody>
                    <a:bodyPr/>
                    <a:lstStyle/>
                    <a:p>
                      <a:pPr>
                        <a:buNone/>
                      </a:pPr>
                      <a:r>
                        <a:rPr lang="en-IN" sz="1000" b="1"/>
                        <a:t>Column Name</a:t>
                      </a:r>
                      <a:endParaRPr lang="en-IN" sz="1000"/>
                    </a:p>
                  </a:txBody>
                  <a:tcPr marL="48468" marR="48468" marT="24234" marB="24234" anchor="ctr"/>
                </a:tc>
                <a:tc>
                  <a:txBody>
                    <a:bodyPr/>
                    <a:lstStyle/>
                    <a:p>
                      <a:pPr>
                        <a:buNone/>
                      </a:pPr>
                      <a:r>
                        <a:rPr lang="en-IN" sz="1000" b="1"/>
                        <a:t>Description</a:t>
                      </a:r>
                      <a:endParaRPr lang="en-IN" sz="1000"/>
                    </a:p>
                  </a:txBody>
                  <a:tcPr marL="48468" marR="48468" marT="24234" marB="24234" anchor="ctr"/>
                </a:tc>
                <a:extLst>
                  <a:ext uri="{0D108BD9-81ED-4DB2-BD59-A6C34878D82A}">
                    <a16:rowId xmlns:a16="http://schemas.microsoft.com/office/drawing/2014/main" val="1394372632"/>
                  </a:ext>
                </a:extLst>
              </a:tr>
              <a:tr h="393365">
                <a:tc>
                  <a:txBody>
                    <a:bodyPr/>
                    <a:lstStyle/>
                    <a:p>
                      <a:pPr>
                        <a:buNone/>
                      </a:pPr>
                      <a:r>
                        <a:rPr lang="en-IN" sz="1000"/>
                        <a:t>Department</a:t>
                      </a:r>
                    </a:p>
                  </a:txBody>
                  <a:tcPr marL="48468" marR="48468" marT="24234" marB="24234" anchor="ctr"/>
                </a:tc>
                <a:tc>
                  <a:txBody>
                    <a:bodyPr/>
                    <a:lstStyle/>
                    <a:p>
                      <a:pPr>
                        <a:buNone/>
                      </a:pPr>
                      <a:r>
                        <a:rPr lang="en-US" sz="1000"/>
                        <a:t>Department name (Sales, R&amp;D, HR)</a:t>
                      </a:r>
                    </a:p>
                  </a:txBody>
                  <a:tcPr marL="48468" marR="48468" marT="24234" marB="24234" anchor="ctr"/>
                </a:tc>
                <a:extLst>
                  <a:ext uri="{0D108BD9-81ED-4DB2-BD59-A6C34878D82A}">
                    <a16:rowId xmlns:a16="http://schemas.microsoft.com/office/drawing/2014/main" val="1948537240"/>
                  </a:ext>
                </a:extLst>
              </a:tr>
              <a:tr h="393365">
                <a:tc>
                  <a:txBody>
                    <a:bodyPr/>
                    <a:lstStyle/>
                    <a:p>
                      <a:pPr>
                        <a:buNone/>
                      </a:pPr>
                      <a:r>
                        <a:rPr lang="en-IN" sz="1000"/>
                        <a:t>JobRole</a:t>
                      </a:r>
                    </a:p>
                  </a:txBody>
                  <a:tcPr marL="48468" marR="48468" marT="24234" marB="24234" anchor="ctr"/>
                </a:tc>
                <a:tc>
                  <a:txBody>
                    <a:bodyPr/>
                    <a:lstStyle/>
                    <a:p>
                      <a:pPr>
                        <a:buNone/>
                      </a:pPr>
                      <a:r>
                        <a:rPr lang="en-IN" sz="1000"/>
                        <a:t>Role or designation</a:t>
                      </a:r>
                    </a:p>
                  </a:txBody>
                  <a:tcPr marL="48468" marR="48468" marT="24234" marB="24234" anchor="ctr"/>
                </a:tc>
                <a:extLst>
                  <a:ext uri="{0D108BD9-81ED-4DB2-BD59-A6C34878D82A}">
                    <a16:rowId xmlns:a16="http://schemas.microsoft.com/office/drawing/2014/main" val="1334690238"/>
                  </a:ext>
                </a:extLst>
              </a:tr>
              <a:tr h="393365">
                <a:tc>
                  <a:txBody>
                    <a:bodyPr/>
                    <a:lstStyle/>
                    <a:p>
                      <a:pPr>
                        <a:buNone/>
                      </a:pPr>
                      <a:r>
                        <a:rPr lang="en-IN" sz="1000"/>
                        <a:t>JobLevel</a:t>
                      </a:r>
                    </a:p>
                  </a:txBody>
                  <a:tcPr marL="48468" marR="48468" marT="24234" marB="24234" anchor="ctr"/>
                </a:tc>
                <a:tc>
                  <a:txBody>
                    <a:bodyPr/>
                    <a:lstStyle/>
                    <a:p>
                      <a:pPr>
                        <a:buNone/>
                      </a:pPr>
                      <a:r>
                        <a:rPr lang="en-IN" sz="1000"/>
                        <a:t>Job position level (1–5)</a:t>
                      </a:r>
                    </a:p>
                  </a:txBody>
                  <a:tcPr marL="48468" marR="48468" marT="24234" marB="24234" anchor="ctr"/>
                </a:tc>
                <a:extLst>
                  <a:ext uri="{0D108BD9-81ED-4DB2-BD59-A6C34878D82A}">
                    <a16:rowId xmlns:a16="http://schemas.microsoft.com/office/drawing/2014/main" val="2473023702"/>
                  </a:ext>
                </a:extLst>
              </a:tr>
              <a:tr h="393365">
                <a:tc>
                  <a:txBody>
                    <a:bodyPr/>
                    <a:lstStyle/>
                    <a:p>
                      <a:pPr>
                        <a:buNone/>
                      </a:pPr>
                      <a:r>
                        <a:rPr lang="en-IN" sz="1000"/>
                        <a:t>YearsAtCompany</a:t>
                      </a:r>
                    </a:p>
                  </a:txBody>
                  <a:tcPr marL="48468" marR="48468" marT="24234" marB="24234" anchor="ctr"/>
                </a:tc>
                <a:tc>
                  <a:txBody>
                    <a:bodyPr/>
                    <a:lstStyle/>
                    <a:p>
                      <a:pPr>
                        <a:buNone/>
                      </a:pPr>
                      <a:r>
                        <a:rPr lang="en-US" sz="1000"/>
                        <a:t>Years worked in the company</a:t>
                      </a:r>
                    </a:p>
                  </a:txBody>
                  <a:tcPr marL="48468" marR="48468" marT="24234" marB="24234" anchor="ctr"/>
                </a:tc>
                <a:extLst>
                  <a:ext uri="{0D108BD9-81ED-4DB2-BD59-A6C34878D82A}">
                    <a16:rowId xmlns:a16="http://schemas.microsoft.com/office/drawing/2014/main" val="3462782133"/>
                  </a:ext>
                </a:extLst>
              </a:tr>
              <a:tr h="393365">
                <a:tc>
                  <a:txBody>
                    <a:bodyPr/>
                    <a:lstStyle/>
                    <a:p>
                      <a:pPr>
                        <a:buNone/>
                      </a:pPr>
                      <a:r>
                        <a:rPr lang="en-IN" sz="1000"/>
                        <a:t>YearsInCurrentRole</a:t>
                      </a:r>
                    </a:p>
                  </a:txBody>
                  <a:tcPr marL="48468" marR="48468" marT="24234" marB="24234" anchor="ctr"/>
                </a:tc>
                <a:tc>
                  <a:txBody>
                    <a:bodyPr/>
                    <a:lstStyle/>
                    <a:p>
                      <a:pPr>
                        <a:buNone/>
                      </a:pPr>
                      <a:r>
                        <a:rPr lang="en-US" sz="1000"/>
                        <a:t>Years spent in the current role</a:t>
                      </a:r>
                    </a:p>
                  </a:txBody>
                  <a:tcPr marL="48468" marR="48468" marT="24234" marB="24234" anchor="ctr"/>
                </a:tc>
                <a:extLst>
                  <a:ext uri="{0D108BD9-81ED-4DB2-BD59-A6C34878D82A}">
                    <a16:rowId xmlns:a16="http://schemas.microsoft.com/office/drawing/2014/main" val="14968749"/>
                  </a:ext>
                </a:extLst>
              </a:tr>
              <a:tr h="393365">
                <a:tc>
                  <a:txBody>
                    <a:bodyPr/>
                    <a:lstStyle/>
                    <a:p>
                      <a:pPr>
                        <a:buNone/>
                      </a:pPr>
                      <a:r>
                        <a:rPr lang="en-IN" sz="1000"/>
                        <a:t>YearsSinceLastPromotion</a:t>
                      </a:r>
                    </a:p>
                  </a:txBody>
                  <a:tcPr marL="48468" marR="48468" marT="24234" marB="24234" anchor="ctr"/>
                </a:tc>
                <a:tc>
                  <a:txBody>
                    <a:bodyPr/>
                    <a:lstStyle/>
                    <a:p>
                      <a:pPr>
                        <a:buNone/>
                      </a:pPr>
                      <a:r>
                        <a:rPr lang="en-IN" sz="1000"/>
                        <a:t>Years since last promotion</a:t>
                      </a:r>
                    </a:p>
                  </a:txBody>
                  <a:tcPr marL="48468" marR="48468" marT="24234" marB="24234" anchor="ctr"/>
                </a:tc>
                <a:extLst>
                  <a:ext uri="{0D108BD9-81ED-4DB2-BD59-A6C34878D82A}">
                    <a16:rowId xmlns:a16="http://schemas.microsoft.com/office/drawing/2014/main" val="380502067"/>
                  </a:ext>
                </a:extLst>
              </a:tr>
              <a:tr h="393365">
                <a:tc>
                  <a:txBody>
                    <a:bodyPr/>
                    <a:lstStyle/>
                    <a:p>
                      <a:pPr>
                        <a:buNone/>
                      </a:pPr>
                      <a:r>
                        <a:rPr lang="en-IN" sz="1000"/>
                        <a:t>YearsWithCurrManager</a:t>
                      </a:r>
                    </a:p>
                  </a:txBody>
                  <a:tcPr marL="48468" marR="48468" marT="24234" marB="24234" anchor="ctr"/>
                </a:tc>
                <a:tc>
                  <a:txBody>
                    <a:bodyPr/>
                    <a:lstStyle/>
                    <a:p>
                      <a:pPr>
                        <a:buNone/>
                      </a:pPr>
                      <a:r>
                        <a:rPr lang="en-IN" sz="1000"/>
                        <a:t>Years with current manager</a:t>
                      </a:r>
                    </a:p>
                  </a:txBody>
                  <a:tcPr marL="48468" marR="48468" marT="24234" marB="24234" anchor="ctr"/>
                </a:tc>
                <a:extLst>
                  <a:ext uri="{0D108BD9-81ED-4DB2-BD59-A6C34878D82A}">
                    <a16:rowId xmlns:a16="http://schemas.microsoft.com/office/drawing/2014/main" val="4276893017"/>
                  </a:ext>
                </a:extLst>
              </a:tr>
              <a:tr h="393365">
                <a:tc>
                  <a:txBody>
                    <a:bodyPr/>
                    <a:lstStyle/>
                    <a:p>
                      <a:pPr>
                        <a:buNone/>
                      </a:pPr>
                      <a:r>
                        <a:rPr lang="en-IN" sz="1000"/>
                        <a:t>MonthlyIncome</a:t>
                      </a:r>
                    </a:p>
                  </a:txBody>
                  <a:tcPr marL="48468" marR="48468" marT="24234" marB="24234" anchor="ctr"/>
                </a:tc>
                <a:tc>
                  <a:txBody>
                    <a:bodyPr/>
                    <a:lstStyle/>
                    <a:p>
                      <a:pPr>
                        <a:buNone/>
                      </a:pPr>
                      <a:r>
                        <a:rPr lang="en-IN" sz="1000"/>
                        <a:t>Monthly salary</a:t>
                      </a:r>
                    </a:p>
                  </a:txBody>
                  <a:tcPr marL="48468" marR="48468" marT="24234" marB="24234" anchor="ctr"/>
                </a:tc>
                <a:extLst>
                  <a:ext uri="{0D108BD9-81ED-4DB2-BD59-A6C34878D82A}">
                    <a16:rowId xmlns:a16="http://schemas.microsoft.com/office/drawing/2014/main" val="40933201"/>
                  </a:ext>
                </a:extLst>
              </a:tr>
              <a:tr h="393365">
                <a:tc>
                  <a:txBody>
                    <a:bodyPr/>
                    <a:lstStyle/>
                    <a:p>
                      <a:pPr>
                        <a:buNone/>
                      </a:pPr>
                      <a:r>
                        <a:rPr lang="en-IN" sz="1000"/>
                        <a:t>MonthlyRate</a:t>
                      </a:r>
                    </a:p>
                  </a:txBody>
                  <a:tcPr marL="48468" marR="48468" marT="24234" marB="24234" anchor="ctr"/>
                </a:tc>
                <a:tc>
                  <a:txBody>
                    <a:bodyPr/>
                    <a:lstStyle/>
                    <a:p>
                      <a:pPr>
                        <a:buNone/>
                      </a:pPr>
                      <a:r>
                        <a:rPr lang="en-IN" sz="1000"/>
                        <a:t>Monthly pay rate</a:t>
                      </a:r>
                    </a:p>
                  </a:txBody>
                  <a:tcPr marL="48468" marR="48468" marT="24234" marB="24234" anchor="ctr"/>
                </a:tc>
                <a:extLst>
                  <a:ext uri="{0D108BD9-81ED-4DB2-BD59-A6C34878D82A}">
                    <a16:rowId xmlns:a16="http://schemas.microsoft.com/office/drawing/2014/main" val="108004747"/>
                  </a:ext>
                </a:extLst>
              </a:tr>
              <a:tr h="393365">
                <a:tc>
                  <a:txBody>
                    <a:bodyPr/>
                    <a:lstStyle/>
                    <a:p>
                      <a:pPr>
                        <a:buNone/>
                      </a:pPr>
                      <a:r>
                        <a:rPr lang="en-IN" sz="1000"/>
                        <a:t>DailyRate</a:t>
                      </a:r>
                    </a:p>
                  </a:txBody>
                  <a:tcPr marL="48468" marR="48468" marT="24234" marB="24234" anchor="ctr"/>
                </a:tc>
                <a:tc>
                  <a:txBody>
                    <a:bodyPr/>
                    <a:lstStyle/>
                    <a:p>
                      <a:pPr>
                        <a:buNone/>
                      </a:pPr>
                      <a:r>
                        <a:rPr lang="en-IN" sz="1000"/>
                        <a:t>Daily rate</a:t>
                      </a:r>
                    </a:p>
                  </a:txBody>
                  <a:tcPr marL="48468" marR="48468" marT="24234" marB="24234" anchor="ctr"/>
                </a:tc>
                <a:extLst>
                  <a:ext uri="{0D108BD9-81ED-4DB2-BD59-A6C34878D82A}">
                    <a16:rowId xmlns:a16="http://schemas.microsoft.com/office/drawing/2014/main" val="2454833520"/>
                  </a:ext>
                </a:extLst>
              </a:tr>
              <a:tr h="393365">
                <a:tc>
                  <a:txBody>
                    <a:bodyPr/>
                    <a:lstStyle/>
                    <a:p>
                      <a:pPr>
                        <a:buNone/>
                      </a:pPr>
                      <a:r>
                        <a:rPr lang="en-IN" sz="1000"/>
                        <a:t>HourlyRate</a:t>
                      </a:r>
                    </a:p>
                  </a:txBody>
                  <a:tcPr marL="48468" marR="48468" marT="24234" marB="24234" anchor="ctr"/>
                </a:tc>
                <a:tc>
                  <a:txBody>
                    <a:bodyPr/>
                    <a:lstStyle/>
                    <a:p>
                      <a:pPr>
                        <a:buNone/>
                      </a:pPr>
                      <a:r>
                        <a:rPr lang="en-IN" sz="1000"/>
                        <a:t>Hourly rate</a:t>
                      </a:r>
                    </a:p>
                  </a:txBody>
                  <a:tcPr marL="48468" marR="48468" marT="24234" marB="24234" anchor="ctr"/>
                </a:tc>
                <a:extLst>
                  <a:ext uri="{0D108BD9-81ED-4DB2-BD59-A6C34878D82A}">
                    <a16:rowId xmlns:a16="http://schemas.microsoft.com/office/drawing/2014/main" val="3369112814"/>
                  </a:ext>
                </a:extLst>
              </a:tr>
              <a:tr h="393365">
                <a:tc>
                  <a:txBody>
                    <a:bodyPr/>
                    <a:lstStyle/>
                    <a:p>
                      <a:pPr>
                        <a:buNone/>
                      </a:pPr>
                      <a:r>
                        <a:rPr lang="en-IN" sz="1000"/>
                        <a:t>StockOptionLevel</a:t>
                      </a:r>
                    </a:p>
                  </a:txBody>
                  <a:tcPr marL="48468" marR="48468" marT="24234" marB="24234" anchor="ctr"/>
                </a:tc>
                <a:tc>
                  <a:txBody>
                    <a:bodyPr/>
                    <a:lstStyle/>
                    <a:p>
                      <a:pPr>
                        <a:buNone/>
                      </a:pPr>
                      <a:r>
                        <a:rPr lang="en-IN" sz="1000"/>
                        <a:t>Stock option level (0–3)</a:t>
                      </a:r>
                    </a:p>
                  </a:txBody>
                  <a:tcPr marL="48468" marR="48468" marT="24234" marB="24234" anchor="ctr"/>
                </a:tc>
                <a:extLst>
                  <a:ext uri="{0D108BD9-81ED-4DB2-BD59-A6C34878D82A}">
                    <a16:rowId xmlns:a16="http://schemas.microsoft.com/office/drawing/2014/main" val="663513744"/>
                  </a:ext>
                </a:extLst>
              </a:tr>
              <a:tr h="393365">
                <a:tc>
                  <a:txBody>
                    <a:bodyPr/>
                    <a:lstStyle/>
                    <a:p>
                      <a:pPr>
                        <a:buNone/>
                      </a:pPr>
                      <a:r>
                        <a:rPr lang="en-IN" sz="1000"/>
                        <a:t>PercentSalaryHike</a:t>
                      </a:r>
                    </a:p>
                  </a:txBody>
                  <a:tcPr marL="48468" marR="48468" marT="24234" marB="24234" anchor="ctr"/>
                </a:tc>
                <a:tc>
                  <a:txBody>
                    <a:bodyPr/>
                    <a:lstStyle/>
                    <a:p>
                      <a:pPr>
                        <a:buNone/>
                      </a:pPr>
                      <a:r>
                        <a:rPr lang="en-IN" sz="1000"/>
                        <a:t>% increase in salary</a:t>
                      </a:r>
                    </a:p>
                  </a:txBody>
                  <a:tcPr marL="48468" marR="48468" marT="24234" marB="24234" anchor="ctr"/>
                </a:tc>
                <a:extLst>
                  <a:ext uri="{0D108BD9-81ED-4DB2-BD59-A6C34878D82A}">
                    <a16:rowId xmlns:a16="http://schemas.microsoft.com/office/drawing/2014/main" val="21944946"/>
                  </a:ext>
                </a:extLst>
              </a:tr>
              <a:tr h="393365">
                <a:tc>
                  <a:txBody>
                    <a:bodyPr/>
                    <a:lstStyle/>
                    <a:p>
                      <a:pPr>
                        <a:buNone/>
                      </a:pPr>
                      <a:r>
                        <a:rPr lang="en-IN" sz="1000"/>
                        <a:t>OverTime</a:t>
                      </a:r>
                    </a:p>
                  </a:txBody>
                  <a:tcPr marL="48468" marR="48468" marT="24234" marB="24234" anchor="ctr"/>
                </a:tc>
                <a:tc>
                  <a:txBody>
                    <a:bodyPr/>
                    <a:lstStyle/>
                    <a:p>
                      <a:pPr>
                        <a:buNone/>
                      </a:pPr>
                      <a:r>
                        <a:rPr lang="en-IN" sz="1000"/>
                        <a:t>Whether employee works overtime</a:t>
                      </a:r>
                    </a:p>
                  </a:txBody>
                  <a:tcPr marL="48468" marR="48468" marT="24234" marB="24234" anchor="ctr"/>
                </a:tc>
                <a:extLst>
                  <a:ext uri="{0D108BD9-81ED-4DB2-BD59-A6C34878D82A}">
                    <a16:rowId xmlns:a16="http://schemas.microsoft.com/office/drawing/2014/main" val="2182860271"/>
                  </a:ext>
                </a:extLst>
              </a:tr>
              <a:tr h="393365">
                <a:tc>
                  <a:txBody>
                    <a:bodyPr/>
                    <a:lstStyle/>
                    <a:p>
                      <a:pPr>
                        <a:buNone/>
                      </a:pPr>
                      <a:r>
                        <a:rPr lang="en-IN" sz="1000"/>
                        <a:t>BusinessTravel</a:t>
                      </a:r>
                    </a:p>
                  </a:txBody>
                  <a:tcPr marL="48468" marR="48468" marT="24234" marB="24234" anchor="ctr"/>
                </a:tc>
                <a:tc>
                  <a:txBody>
                    <a:bodyPr/>
                    <a:lstStyle/>
                    <a:p>
                      <a:pPr>
                        <a:buNone/>
                      </a:pPr>
                      <a:r>
                        <a:rPr lang="en-IN" sz="1000" dirty="0"/>
                        <a:t>Frequency of business travel</a:t>
                      </a:r>
                    </a:p>
                  </a:txBody>
                  <a:tcPr marL="48468" marR="48468" marT="24234" marB="24234" anchor="ctr"/>
                </a:tc>
                <a:extLst>
                  <a:ext uri="{0D108BD9-81ED-4DB2-BD59-A6C34878D82A}">
                    <a16:rowId xmlns:a16="http://schemas.microsoft.com/office/drawing/2014/main" val="4094884824"/>
                  </a:ext>
                </a:extLst>
              </a:tr>
            </a:tbl>
          </a:graphicData>
        </a:graphic>
      </p:graphicFrame>
    </p:spTree>
    <p:extLst>
      <p:ext uri="{BB962C8B-B14F-4D97-AF65-F5344CB8AC3E}">
        <p14:creationId xmlns:p14="http://schemas.microsoft.com/office/powerpoint/2010/main" val="14576082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C758B1-06E9-5341-68BA-D376A358AD1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9D1B9C5-0D75-084A-E4AF-26377517B1BF}"/>
              </a:ext>
            </a:extLst>
          </p:cNvPr>
          <p:cNvSpPr>
            <a:spLocks noGrp="1"/>
          </p:cNvSpPr>
          <p:nvPr>
            <p:ph type="title"/>
          </p:nvPr>
        </p:nvSpPr>
        <p:spPr/>
        <p:txBody>
          <a:bodyPr/>
          <a:lstStyle/>
          <a:p>
            <a:r>
              <a:rPr lang="en-IN" dirty="0"/>
              <a:t>Data dictionary</a:t>
            </a:r>
          </a:p>
        </p:txBody>
      </p:sp>
      <p:graphicFrame>
        <p:nvGraphicFramePr>
          <p:cNvPr id="3" name="Table 2">
            <a:extLst>
              <a:ext uri="{FF2B5EF4-FFF2-40B4-BE49-F238E27FC236}">
                <a16:creationId xmlns:a16="http://schemas.microsoft.com/office/drawing/2014/main" id="{951C0551-1874-17F6-AC98-45E8DFB3D378}"/>
              </a:ext>
            </a:extLst>
          </p:cNvPr>
          <p:cNvGraphicFramePr>
            <a:graphicFrameLocks noGrp="1"/>
          </p:cNvGraphicFramePr>
          <p:nvPr>
            <p:extLst>
              <p:ext uri="{D42A27DB-BD31-4B8C-83A1-F6EECF244321}">
                <p14:modId xmlns:p14="http://schemas.microsoft.com/office/powerpoint/2010/main" val="6044715"/>
              </p:ext>
            </p:extLst>
          </p:nvPr>
        </p:nvGraphicFramePr>
        <p:xfrm>
          <a:off x="6253470" y="230857"/>
          <a:ext cx="5623898" cy="6425583"/>
        </p:xfrm>
        <a:graphic>
          <a:graphicData uri="http://schemas.openxmlformats.org/drawingml/2006/table">
            <a:tbl>
              <a:tblPr>
                <a:tableStyleId>{8EC20E35-A176-4012-BC5E-935CFFF8708E}</a:tableStyleId>
              </a:tblPr>
              <a:tblGrid>
                <a:gridCol w="2811949">
                  <a:extLst>
                    <a:ext uri="{9D8B030D-6E8A-4147-A177-3AD203B41FA5}">
                      <a16:colId xmlns:a16="http://schemas.microsoft.com/office/drawing/2014/main" val="3006123632"/>
                    </a:ext>
                  </a:extLst>
                </a:gridCol>
                <a:gridCol w="2811949">
                  <a:extLst>
                    <a:ext uri="{9D8B030D-6E8A-4147-A177-3AD203B41FA5}">
                      <a16:colId xmlns:a16="http://schemas.microsoft.com/office/drawing/2014/main" val="2226566923"/>
                    </a:ext>
                  </a:extLst>
                </a:gridCol>
              </a:tblGrid>
              <a:tr h="454217">
                <a:tc>
                  <a:txBody>
                    <a:bodyPr/>
                    <a:lstStyle/>
                    <a:p>
                      <a:pPr>
                        <a:buNone/>
                      </a:pPr>
                      <a:r>
                        <a:rPr lang="en-IN" sz="1100" b="1"/>
                        <a:t>Column Name</a:t>
                      </a:r>
                      <a:endParaRPr lang="en-IN" sz="1100"/>
                    </a:p>
                  </a:txBody>
                  <a:tcPr marL="54421" marR="54421" marT="27210" marB="27210" anchor="ctr"/>
                </a:tc>
                <a:tc>
                  <a:txBody>
                    <a:bodyPr/>
                    <a:lstStyle/>
                    <a:p>
                      <a:pPr>
                        <a:buNone/>
                      </a:pPr>
                      <a:r>
                        <a:rPr lang="en-IN" sz="1100" b="1"/>
                        <a:t>Description</a:t>
                      </a:r>
                      <a:endParaRPr lang="en-IN" sz="1100"/>
                    </a:p>
                  </a:txBody>
                  <a:tcPr marL="54421" marR="54421" marT="27210" marB="27210" anchor="ctr"/>
                </a:tc>
                <a:extLst>
                  <a:ext uri="{0D108BD9-81ED-4DB2-BD59-A6C34878D82A}">
                    <a16:rowId xmlns:a16="http://schemas.microsoft.com/office/drawing/2014/main" val="1528174319"/>
                  </a:ext>
                </a:extLst>
              </a:tr>
              <a:tr h="454217">
                <a:tc>
                  <a:txBody>
                    <a:bodyPr/>
                    <a:lstStyle/>
                    <a:p>
                      <a:pPr>
                        <a:buNone/>
                      </a:pPr>
                      <a:r>
                        <a:rPr lang="en-IN" sz="1100"/>
                        <a:t>Attrition</a:t>
                      </a:r>
                    </a:p>
                  </a:txBody>
                  <a:tcPr marL="54421" marR="54421" marT="27210" marB="27210" anchor="ctr"/>
                </a:tc>
                <a:tc>
                  <a:txBody>
                    <a:bodyPr/>
                    <a:lstStyle/>
                    <a:p>
                      <a:pPr>
                        <a:buNone/>
                      </a:pPr>
                      <a:r>
                        <a:rPr lang="en-US" sz="1100"/>
                        <a:t>Whether employee has left (Yes / No)</a:t>
                      </a:r>
                    </a:p>
                  </a:txBody>
                  <a:tcPr marL="54421" marR="54421" marT="27210" marB="27210" anchor="ctr"/>
                </a:tc>
                <a:extLst>
                  <a:ext uri="{0D108BD9-81ED-4DB2-BD59-A6C34878D82A}">
                    <a16:rowId xmlns:a16="http://schemas.microsoft.com/office/drawing/2014/main" val="3095685786"/>
                  </a:ext>
                </a:extLst>
              </a:tr>
              <a:tr h="779210">
                <a:tc>
                  <a:txBody>
                    <a:bodyPr/>
                    <a:lstStyle/>
                    <a:p>
                      <a:pPr>
                        <a:buNone/>
                      </a:pPr>
                      <a:r>
                        <a:rPr lang="en-IN" sz="1100"/>
                        <a:t>EnvironmentSatisfaction</a:t>
                      </a:r>
                    </a:p>
                  </a:txBody>
                  <a:tcPr marL="54421" marR="54421" marT="27210" marB="27210" anchor="ctr"/>
                </a:tc>
                <a:tc>
                  <a:txBody>
                    <a:bodyPr/>
                    <a:lstStyle/>
                    <a:p>
                      <a:pPr>
                        <a:buNone/>
                      </a:pPr>
                      <a:r>
                        <a:rPr lang="en-US" sz="1100"/>
                        <a:t>Satisfaction with work environment (1–4)</a:t>
                      </a:r>
                    </a:p>
                  </a:txBody>
                  <a:tcPr marL="54421" marR="54421" marT="27210" marB="27210" anchor="ctr"/>
                </a:tc>
                <a:extLst>
                  <a:ext uri="{0D108BD9-81ED-4DB2-BD59-A6C34878D82A}">
                    <a16:rowId xmlns:a16="http://schemas.microsoft.com/office/drawing/2014/main" val="2636648379"/>
                  </a:ext>
                </a:extLst>
              </a:tr>
              <a:tr h="454217">
                <a:tc>
                  <a:txBody>
                    <a:bodyPr/>
                    <a:lstStyle/>
                    <a:p>
                      <a:pPr>
                        <a:buNone/>
                      </a:pPr>
                      <a:r>
                        <a:rPr lang="en-IN" sz="1100"/>
                        <a:t>JobSatisfaction</a:t>
                      </a:r>
                    </a:p>
                  </a:txBody>
                  <a:tcPr marL="54421" marR="54421" marT="27210" marB="27210" anchor="ctr"/>
                </a:tc>
                <a:tc>
                  <a:txBody>
                    <a:bodyPr/>
                    <a:lstStyle/>
                    <a:p>
                      <a:pPr>
                        <a:buNone/>
                      </a:pPr>
                      <a:r>
                        <a:rPr lang="en-IN" sz="1100"/>
                        <a:t>Satisfaction with job (1–4)</a:t>
                      </a:r>
                    </a:p>
                  </a:txBody>
                  <a:tcPr marL="54421" marR="54421" marT="27210" marB="27210" anchor="ctr"/>
                </a:tc>
                <a:extLst>
                  <a:ext uri="{0D108BD9-81ED-4DB2-BD59-A6C34878D82A}">
                    <a16:rowId xmlns:a16="http://schemas.microsoft.com/office/drawing/2014/main" val="886163796"/>
                  </a:ext>
                </a:extLst>
              </a:tr>
              <a:tr h="779210">
                <a:tc>
                  <a:txBody>
                    <a:bodyPr/>
                    <a:lstStyle/>
                    <a:p>
                      <a:pPr>
                        <a:buNone/>
                      </a:pPr>
                      <a:r>
                        <a:rPr lang="en-IN" sz="1100"/>
                        <a:t>RelationshipSatisfaction</a:t>
                      </a:r>
                    </a:p>
                  </a:txBody>
                  <a:tcPr marL="54421" marR="54421" marT="27210" marB="27210" anchor="ctr"/>
                </a:tc>
                <a:tc>
                  <a:txBody>
                    <a:bodyPr/>
                    <a:lstStyle/>
                    <a:p>
                      <a:pPr>
                        <a:buNone/>
                      </a:pPr>
                      <a:r>
                        <a:rPr lang="en-US" sz="1100"/>
                        <a:t>Satisfaction with management/colleagues (1–4)</a:t>
                      </a:r>
                    </a:p>
                  </a:txBody>
                  <a:tcPr marL="54421" marR="54421" marT="27210" marB="27210" anchor="ctr"/>
                </a:tc>
                <a:extLst>
                  <a:ext uri="{0D108BD9-81ED-4DB2-BD59-A6C34878D82A}">
                    <a16:rowId xmlns:a16="http://schemas.microsoft.com/office/drawing/2014/main" val="722702722"/>
                  </a:ext>
                </a:extLst>
              </a:tr>
              <a:tr h="454217">
                <a:tc>
                  <a:txBody>
                    <a:bodyPr/>
                    <a:lstStyle/>
                    <a:p>
                      <a:pPr>
                        <a:buNone/>
                      </a:pPr>
                      <a:r>
                        <a:rPr lang="en-IN" sz="1100"/>
                        <a:t>WorkLifeBalance</a:t>
                      </a:r>
                    </a:p>
                  </a:txBody>
                  <a:tcPr marL="54421" marR="54421" marT="27210" marB="27210" anchor="ctr"/>
                </a:tc>
                <a:tc>
                  <a:txBody>
                    <a:bodyPr/>
                    <a:lstStyle/>
                    <a:p>
                      <a:pPr>
                        <a:buNone/>
                      </a:pPr>
                      <a:r>
                        <a:rPr lang="en-IN" sz="1100"/>
                        <a:t>Work-life balance satisfaction (1–4)</a:t>
                      </a:r>
                    </a:p>
                  </a:txBody>
                  <a:tcPr marL="54421" marR="54421" marT="27210" marB="27210" anchor="ctr"/>
                </a:tc>
                <a:extLst>
                  <a:ext uri="{0D108BD9-81ED-4DB2-BD59-A6C34878D82A}">
                    <a16:rowId xmlns:a16="http://schemas.microsoft.com/office/drawing/2014/main" val="3525836324"/>
                  </a:ext>
                </a:extLst>
              </a:tr>
              <a:tr h="454217">
                <a:tc>
                  <a:txBody>
                    <a:bodyPr/>
                    <a:lstStyle/>
                    <a:p>
                      <a:pPr>
                        <a:buNone/>
                      </a:pPr>
                      <a:r>
                        <a:rPr lang="en-IN" sz="1100"/>
                        <a:t>JobInvolvement</a:t>
                      </a:r>
                    </a:p>
                  </a:txBody>
                  <a:tcPr marL="54421" marR="54421" marT="27210" marB="27210" anchor="ctr"/>
                </a:tc>
                <a:tc>
                  <a:txBody>
                    <a:bodyPr/>
                    <a:lstStyle/>
                    <a:p>
                      <a:pPr>
                        <a:buNone/>
                      </a:pPr>
                      <a:r>
                        <a:rPr lang="en-US" sz="1100"/>
                        <a:t>Level of involvement in job (1–4)</a:t>
                      </a:r>
                    </a:p>
                  </a:txBody>
                  <a:tcPr marL="54421" marR="54421" marT="27210" marB="27210" anchor="ctr"/>
                </a:tc>
                <a:extLst>
                  <a:ext uri="{0D108BD9-81ED-4DB2-BD59-A6C34878D82A}">
                    <a16:rowId xmlns:a16="http://schemas.microsoft.com/office/drawing/2014/main" val="2821171099"/>
                  </a:ext>
                </a:extLst>
              </a:tr>
              <a:tr h="454217">
                <a:tc>
                  <a:txBody>
                    <a:bodyPr/>
                    <a:lstStyle/>
                    <a:p>
                      <a:pPr>
                        <a:buNone/>
                      </a:pPr>
                      <a:r>
                        <a:rPr lang="en-IN" sz="1100"/>
                        <a:t>PerformanceRating</a:t>
                      </a:r>
                    </a:p>
                  </a:txBody>
                  <a:tcPr marL="54421" marR="54421" marT="27210" marB="27210" anchor="ctr"/>
                </a:tc>
                <a:tc>
                  <a:txBody>
                    <a:bodyPr/>
                    <a:lstStyle/>
                    <a:p>
                      <a:pPr>
                        <a:buNone/>
                      </a:pPr>
                      <a:r>
                        <a:rPr lang="en-IN" sz="1100"/>
                        <a:t>Employee performance rating (1–4)</a:t>
                      </a:r>
                    </a:p>
                  </a:txBody>
                  <a:tcPr marL="54421" marR="54421" marT="27210" marB="27210" anchor="ctr"/>
                </a:tc>
                <a:extLst>
                  <a:ext uri="{0D108BD9-81ED-4DB2-BD59-A6C34878D82A}">
                    <a16:rowId xmlns:a16="http://schemas.microsoft.com/office/drawing/2014/main" val="1667039596"/>
                  </a:ext>
                </a:extLst>
              </a:tr>
              <a:tr h="454217">
                <a:tc>
                  <a:txBody>
                    <a:bodyPr/>
                    <a:lstStyle/>
                    <a:p>
                      <a:pPr>
                        <a:buNone/>
                      </a:pPr>
                      <a:r>
                        <a:rPr lang="en-IN" sz="1100"/>
                        <a:t>TrainingTimesLastYear</a:t>
                      </a:r>
                    </a:p>
                  </a:txBody>
                  <a:tcPr marL="54421" marR="54421" marT="27210" marB="27210" anchor="ctr"/>
                </a:tc>
                <a:tc>
                  <a:txBody>
                    <a:bodyPr/>
                    <a:lstStyle/>
                    <a:p>
                      <a:pPr>
                        <a:buNone/>
                      </a:pPr>
                      <a:r>
                        <a:rPr lang="en-US" sz="1100"/>
                        <a:t>Number of trainings attended last year</a:t>
                      </a:r>
                    </a:p>
                  </a:txBody>
                  <a:tcPr marL="54421" marR="54421" marT="27210" marB="27210" anchor="ctr"/>
                </a:tc>
                <a:extLst>
                  <a:ext uri="{0D108BD9-81ED-4DB2-BD59-A6C34878D82A}">
                    <a16:rowId xmlns:a16="http://schemas.microsoft.com/office/drawing/2014/main" val="102868159"/>
                  </a:ext>
                </a:extLst>
              </a:tr>
              <a:tr h="779210">
                <a:tc>
                  <a:txBody>
                    <a:bodyPr/>
                    <a:lstStyle/>
                    <a:p>
                      <a:pPr>
                        <a:buNone/>
                      </a:pPr>
                      <a:r>
                        <a:rPr lang="en-IN" sz="1100"/>
                        <a:t>StandardHours</a:t>
                      </a:r>
                    </a:p>
                  </a:txBody>
                  <a:tcPr marL="54421" marR="54421" marT="27210" marB="27210" anchor="ctr"/>
                </a:tc>
                <a:tc>
                  <a:txBody>
                    <a:bodyPr/>
                    <a:lstStyle/>
                    <a:p>
                      <a:pPr>
                        <a:buNone/>
                      </a:pPr>
                      <a:r>
                        <a:rPr lang="en-US" sz="1100"/>
                        <a:t>Standard working hours (usually constant = 80)</a:t>
                      </a:r>
                    </a:p>
                  </a:txBody>
                  <a:tcPr marL="54421" marR="54421" marT="27210" marB="27210" anchor="ctr"/>
                </a:tc>
                <a:extLst>
                  <a:ext uri="{0D108BD9-81ED-4DB2-BD59-A6C34878D82A}">
                    <a16:rowId xmlns:a16="http://schemas.microsoft.com/office/drawing/2014/main" val="1552463585"/>
                  </a:ext>
                </a:extLst>
              </a:tr>
              <a:tr h="454217">
                <a:tc>
                  <a:txBody>
                    <a:bodyPr/>
                    <a:lstStyle/>
                    <a:p>
                      <a:pPr>
                        <a:buNone/>
                      </a:pPr>
                      <a:r>
                        <a:rPr lang="en-IN" sz="1100"/>
                        <a:t>EmployeeCount</a:t>
                      </a:r>
                    </a:p>
                  </a:txBody>
                  <a:tcPr marL="54421" marR="54421" marT="27210" marB="27210" anchor="ctr"/>
                </a:tc>
                <a:tc>
                  <a:txBody>
                    <a:bodyPr/>
                    <a:lstStyle/>
                    <a:p>
                      <a:pPr>
                        <a:buNone/>
                      </a:pPr>
                      <a:r>
                        <a:rPr lang="en-US" sz="1100"/>
                        <a:t>Employee record count (constant = 1)</a:t>
                      </a:r>
                    </a:p>
                  </a:txBody>
                  <a:tcPr marL="54421" marR="54421" marT="27210" marB="27210" anchor="ctr"/>
                </a:tc>
                <a:extLst>
                  <a:ext uri="{0D108BD9-81ED-4DB2-BD59-A6C34878D82A}">
                    <a16:rowId xmlns:a16="http://schemas.microsoft.com/office/drawing/2014/main" val="4065144033"/>
                  </a:ext>
                </a:extLst>
              </a:tr>
              <a:tr h="454217">
                <a:tc>
                  <a:txBody>
                    <a:bodyPr/>
                    <a:lstStyle/>
                    <a:p>
                      <a:pPr>
                        <a:buNone/>
                      </a:pPr>
                      <a:r>
                        <a:rPr lang="en-IN" sz="1100"/>
                        <a:t>EmployeeNumber</a:t>
                      </a:r>
                    </a:p>
                  </a:txBody>
                  <a:tcPr marL="54421" marR="54421" marT="27210" marB="27210" anchor="ctr"/>
                </a:tc>
                <a:tc>
                  <a:txBody>
                    <a:bodyPr/>
                    <a:lstStyle/>
                    <a:p>
                      <a:pPr>
                        <a:buNone/>
                      </a:pPr>
                      <a:r>
                        <a:rPr lang="en-IN" sz="1100" dirty="0"/>
                        <a:t>Unique employee ID</a:t>
                      </a:r>
                    </a:p>
                  </a:txBody>
                  <a:tcPr marL="54421" marR="54421" marT="27210" marB="27210" anchor="ctr"/>
                </a:tc>
                <a:extLst>
                  <a:ext uri="{0D108BD9-81ED-4DB2-BD59-A6C34878D82A}">
                    <a16:rowId xmlns:a16="http://schemas.microsoft.com/office/drawing/2014/main" val="4186598902"/>
                  </a:ext>
                </a:extLst>
              </a:tr>
            </a:tbl>
          </a:graphicData>
        </a:graphic>
      </p:graphicFrame>
    </p:spTree>
    <p:extLst>
      <p:ext uri="{BB962C8B-B14F-4D97-AF65-F5344CB8AC3E}">
        <p14:creationId xmlns:p14="http://schemas.microsoft.com/office/powerpoint/2010/main" val="33198206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00165-D357-97D5-0E8F-24AC5EEF8B39}"/>
              </a:ext>
            </a:extLst>
          </p:cNvPr>
          <p:cNvSpPr>
            <a:spLocks noGrp="1"/>
          </p:cNvSpPr>
          <p:nvPr>
            <p:ph type="title"/>
          </p:nvPr>
        </p:nvSpPr>
        <p:spPr/>
        <p:txBody>
          <a:bodyPr/>
          <a:lstStyle/>
          <a:p>
            <a:r>
              <a:rPr lang="en-IN" dirty="0"/>
              <a:t>Exploratory Data Analysis</a:t>
            </a:r>
          </a:p>
        </p:txBody>
      </p:sp>
      <p:graphicFrame>
        <p:nvGraphicFramePr>
          <p:cNvPr id="5" name="Content Placeholder 4">
            <a:extLst>
              <a:ext uri="{FF2B5EF4-FFF2-40B4-BE49-F238E27FC236}">
                <a16:creationId xmlns:a16="http://schemas.microsoft.com/office/drawing/2014/main" id="{026E7CDB-C9F9-A93F-2EDD-D9C57FF3248D}"/>
              </a:ext>
            </a:extLst>
          </p:cNvPr>
          <p:cNvGraphicFramePr>
            <a:graphicFrameLocks noGrp="1"/>
          </p:cNvGraphicFramePr>
          <p:nvPr>
            <p:ph idx="1"/>
            <p:extLst>
              <p:ext uri="{D42A27DB-BD31-4B8C-83A1-F6EECF244321}">
                <p14:modId xmlns:p14="http://schemas.microsoft.com/office/powerpoint/2010/main" val="794242773"/>
              </p:ext>
            </p:extLst>
          </p:nvPr>
        </p:nvGraphicFramePr>
        <p:xfrm>
          <a:off x="6096000" y="0"/>
          <a:ext cx="6096000" cy="6858000"/>
        </p:xfrm>
        <a:graphic>
          <a:graphicData uri="http://schemas.openxmlformats.org/drawingml/2006/table">
            <a:tbl>
              <a:tblPr>
                <a:tableStyleId>{8EC20E35-A176-4012-BC5E-935CFFF8708E}</a:tableStyleId>
              </a:tblPr>
              <a:tblGrid>
                <a:gridCol w="1016000">
                  <a:extLst>
                    <a:ext uri="{9D8B030D-6E8A-4147-A177-3AD203B41FA5}">
                      <a16:colId xmlns:a16="http://schemas.microsoft.com/office/drawing/2014/main" val="249306438"/>
                    </a:ext>
                  </a:extLst>
                </a:gridCol>
                <a:gridCol w="1016000">
                  <a:extLst>
                    <a:ext uri="{9D8B030D-6E8A-4147-A177-3AD203B41FA5}">
                      <a16:colId xmlns:a16="http://schemas.microsoft.com/office/drawing/2014/main" val="1916356453"/>
                    </a:ext>
                  </a:extLst>
                </a:gridCol>
                <a:gridCol w="1016000">
                  <a:extLst>
                    <a:ext uri="{9D8B030D-6E8A-4147-A177-3AD203B41FA5}">
                      <a16:colId xmlns:a16="http://schemas.microsoft.com/office/drawing/2014/main" val="646439254"/>
                    </a:ext>
                  </a:extLst>
                </a:gridCol>
                <a:gridCol w="1016000">
                  <a:extLst>
                    <a:ext uri="{9D8B030D-6E8A-4147-A177-3AD203B41FA5}">
                      <a16:colId xmlns:a16="http://schemas.microsoft.com/office/drawing/2014/main" val="1954717268"/>
                    </a:ext>
                  </a:extLst>
                </a:gridCol>
                <a:gridCol w="1016000">
                  <a:extLst>
                    <a:ext uri="{9D8B030D-6E8A-4147-A177-3AD203B41FA5}">
                      <a16:colId xmlns:a16="http://schemas.microsoft.com/office/drawing/2014/main" val="2675392648"/>
                    </a:ext>
                  </a:extLst>
                </a:gridCol>
                <a:gridCol w="1016000">
                  <a:extLst>
                    <a:ext uri="{9D8B030D-6E8A-4147-A177-3AD203B41FA5}">
                      <a16:colId xmlns:a16="http://schemas.microsoft.com/office/drawing/2014/main" val="658930047"/>
                    </a:ext>
                  </a:extLst>
                </a:gridCol>
              </a:tblGrid>
              <a:tr h="351692">
                <a:tc>
                  <a:txBody>
                    <a:bodyPr/>
                    <a:lstStyle/>
                    <a:p>
                      <a:pPr algn="ctr">
                        <a:buNone/>
                      </a:pPr>
                      <a:r>
                        <a:rPr lang="en-IN" sz="1200" b="1" dirty="0"/>
                        <a:t>Index</a:t>
                      </a:r>
                    </a:p>
                  </a:txBody>
                  <a:tcPr marL="56967" marR="56967" marT="28483" marB="28483" anchor="ctr"/>
                </a:tc>
                <a:tc>
                  <a:txBody>
                    <a:bodyPr/>
                    <a:lstStyle/>
                    <a:p>
                      <a:pPr algn="ctr">
                        <a:buNone/>
                      </a:pPr>
                      <a:r>
                        <a:rPr lang="en-IN" sz="1200" b="1" dirty="0"/>
                        <a:t>Mean</a:t>
                      </a:r>
                    </a:p>
                  </a:txBody>
                  <a:tcPr marL="56967" marR="56967" marT="28483" marB="28483" anchor="ctr"/>
                </a:tc>
                <a:tc>
                  <a:txBody>
                    <a:bodyPr/>
                    <a:lstStyle/>
                    <a:p>
                      <a:pPr algn="ctr">
                        <a:buNone/>
                      </a:pPr>
                      <a:r>
                        <a:rPr lang="en-IN" sz="1200" b="1" dirty="0"/>
                        <a:t>Variance</a:t>
                      </a:r>
                    </a:p>
                  </a:txBody>
                  <a:tcPr marL="56967" marR="56967" marT="28483" marB="28483" anchor="ctr"/>
                </a:tc>
                <a:tc>
                  <a:txBody>
                    <a:bodyPr/>
                    <a:lstStyle/>
                    <a:p>
                      <a:pPr algn="ctr">
                        <a:buNone/>
                      </a:pPr>
                      <a:r>
                        <a:rPr lang="en-IN" sz="1200" b="1" dirty="0"/>
                        <a:t>Std Dev</a:t>
                      </a:r>
                    </a:p>
                  </a:txBody>
                  <a:tcPr marL="56967" marR="56967" marT="28483" marB="28483" anchor="ctr"/>
                </a:tc>
                <a:tc>
                  <a:txBody>
                    <a:bodyPr/>
                    <a:lstStyle/>
                    <a:p>
                      <a:pPr algn="ctr">
                        <a:buNone/>
                      </a:pPr>
                      <a:r>
                        <a:rPr lang="en-IN" sz="1200" b="1" dirty="0"/>
                        <a:t>Skewness</a:t>
                      </a:r>
                    </a:p>
                  </a:txBody>
                  <a:tcPr marL="56967" marR="56967" marT="28483" marB="28483" anchor="ctr"/>
                </a:tc>
                <a:tc>
                  <a:txBody>
                    <a:bodyPr/>
                    <a:lstStyle/>
                    <a:p>
                      <a:pPr algn="ctr">
                        <a:buNone/>
                      </a:pPr>
                      <a:r>
                        <a:rPr lang="en-IN" sz="1200" b="1" dirty="0"/>
                        <a:t>Kurtosis</a:t>
                      </a:r>
                    </a:p>
                  </a:txBody>
                  <a:tcPr marL="56967" marR="56967" marT="28483" marB="28483" anchor="ctr"/>
                </a:tc>
                <a:extLst>
                  <a:ext uri="{0D108BD9-81ED-4DB2-BD59-A6C34878D82A}">
                    <a16:rowId xmlns:a16="http://schemas.microsoft.com/office/drawing/2014/main" val="1211771364"/>
                  </a:ext>
                </a:extLst>
              </a:tr>
              <a:tr h="351692">
                <a:tc>
                  <a:txBody>
                    <a:bodyPr/>
                    <a:lstStyle/>
                    <a:p>
                      <a:pPr>
                        <a:buNone/>
                      </a:pPr>
                      <a:r>
                        <a:rPr lang="en-IN" sz="1100" b="1"/>
                        <a:t>Age</a:t>
                      </a:r>
                      <a:endParaRPr lang="en-IN" sz="1100"/>
                    </a:p>
                  </a:txBody>
                  <a:tcPr marL="56967" marR="56967" marT="28483" marB="28483" anchor="ctr"/>
                </a:tc>
                <a:tc>
                  <a:txBody>
                    <a:bodyPr/>
                    <a:lstStyle/>
                    <a:p>
                      <a:pPr algn="ctr">
                        <a:buNone/>
                      </a:pPr>
                      <a:r>
                        <a:rPr lang="en-IN" sz="1100" dirty="0"/>
                        <a:t>36.9238</a:t>
                      </a:r>
                    </a:p>
                  </a:txBody>
                  <a:tcPr marL="56967" marR="56967" marT="28483" marB="28483" anchor="ctr"/>
                </a:tc>
                <a:tc>
                  <a:txBody>
                    <a:bodyPr/>
                    <a:lstStyle/>
                    <a:p>
                      <a:pPr algn="ctr">
                        <a:buNone/>
                      </a:pPr>
                      <a:r>
                        <a:rPr lang="en-IN" sz="1100"/>
                        <a:t>83.455</a:t>
                      </a:r>
                    </a:p>
                  </a:txBody>
                  <a:tcPr marL="56967" marR="56967" marT="28483" marB="28483" anchor="ctr"/>
                </a:tc>
                <a:tc>
                  <a:txBody>
                    <a:bodyPr/>
                    <a:lstStyle/>
                    <a:p>
                      <a:pPr algn="ctr">
                        <a:buNone/>
                      </a:pPr>
                      <a:r>
                        <a:rPr lang="en-IN" sz="1100"/>
                        <a:t>9.13537</a:t>
                      </a:r>
                    </a:p>
                  </a:txBody>
                  <a:tcPr marL="56967" marR="56967" marT="28483" marB="28483" anchor="ctr"/>
                </a:tc>
                <a:tc>
                  <a:txBody>
                    <a:bodyPr/>
                    <a:lstStyle/>
                    <a:p>
                      <a:pPr algn="ctr">
                        <a:buNone/>
                      </a:pPr>
                      <a:r>
                        <a:rPr lang="en-IN" sz="1100"/>
                        <a:t>0.413286</a:t>
                      </a:r>
                    </a:p>
                  </a:txBody>
                  <a:tcPr marL="56967" marR="56967" marT="28483" marB="28483" anchor="ctr"/>
                </a:tc>
                <a:tc>
                  <a:txBody>
                    <a:bodyPr/>
                    <a:lstStyle/>
                    <a:p>
                      <a:pPr algn="ctr">
                        <a:buNone/>
                      </a:pPr>
                      <a:r>
                        <a:rPr lang="en-IN" sz="1100"/>
                        <a:t>-0.404145</a:t>
                      </a:r>
                    </a:p>
                  </a:txBody>
                  <a:tcPr marL="56967" marR="56967" marT="28483" marB="28483" anchor="ctr"/>
                </a:tc>
                <a:extLst>
                  <a:ext uri="{0D108BD9-81ED-4DB2-BD59-A6C34878D82A}">
                    <a16:rowId xmlns:a16="http://schemas.microsoft.com/office/drawing/2014/main" val="4231321570"/>
                  </a:ext>
                </a:extLst>
              </a:tr>
              <a:tr h="615462">
                <a:tc>
                  <a:txBody>
                    <a:bodyPr/>
                    <a:lstStyle/>
                    <a:p>
                      <a:pPr>
                        <a:buNone/>
                      </a:pPr>
                      <a:r>
                        <a:rPr lang="en-IN" sz="1100" b="1"/>
                        <a:t>DailyRate</a:t>
                      </a:r>
                      <a:endParaRPr lang="en-IN" sz="1100"/>
                    </a:p>
                  </a:txBody>
                  <a:tcPr marL="56967" marR="56967" marT="28483" marB="28483" anchor="ctr"/>
                </a:tc>
                <a:tc>
                  <a:txBody>
                    <a:bodyPr/>
                    <a:lstStyle/>
                    <a:p>
                      <a:pPr algn="ctr">
                        <a:buNone/>
                      </a:pPr>
                      <a:r>
                        <a:rPr lang="en-IN" sz="1100" dirty="0"/>
                        <a:t>802.486</a:t>
                      </a:r>
                    </a:p>
                  </a:txBody>
                  <a:tcPr marL="56967" marR="56967" marT="28483" marB="28483" anchor="ctr"/>
                </a:tc>
                <a:tc>
                  <a:txBody>
                    <a:bodyPr/>
                    <a:lstStyle/>
                    <a:p>
                      <a:pPr algn="ctr">
                        <a:buNone/>
                      </a:pPr>
                      <a:r>
                        <a:rPr lang="en-IN" sz="1100" dirty="0"/>
                        <a:t>162820</a:t>
                      </a:r>
                    </a:p>
                  </a:txBody>
                  <a:tcPr marL="56967" marR="56967" marT="28483" marB="28483" anchor="ctr"/>
                </a:tc>
                <a:tc>
                  <a:txBody>
                    <a:bodyPr/>
                    <a:lstStyle/>
                    <a:p>
                      <a:pPr algn="ctr">
                        <a:buNone/>
                      </a:pPr>
                      <a:r>
                        <a:rPr lang="en-IN" sz="1100" dirty="0"/>
                        <a:t>403.509</a:t>
                      </a:r>
                    </a:p>
                  </a:txBody>
                  <a:tcPr marL="56967" marR="56967" marT="28483" marB="28483" anchor="ctr"/>
                </a:tc>
                <a:tc>
                  <a:txBody>
                    <a:bodyPr/>
                    <a:lstStyle/>
                    <a:p>
                      <a:pPr algn="ctr">
                        <a:buNone/>
                      </a:pPr>
                      <a:r>
                        <a:rPr lang="en-IN" sz="1100"/>
                        <a:t>-0.08351857</a:t>
                      </a:r>
                    </a:p>
                  </a:txBody>
                  <a:tcPr marL="56967" marR="56967" marT="28483" marB="28483" anchor="ctr"/>
                </a:tc>
                <a:tc>
                  <a:txBody>
                    <a:bodyPr/>
                    <a:lstStyle/>
                    <a:p>
                      <a:pPr algn="ctr">
                        <a:buNone/>
                      </a:pPr>
                      <a:r>
                        <a:rPr lang="en-IN" sz="1100"/>
                        <a:t>-1.20382</a:t>
                      </a:r>
                    </a:p>
                  </a:txBody>
                  <a:tcPr marL="56967" marR="56967" marT="28483" marB="28483" anchor="ctr"/>
                </a:tc>
                <a:extLst>
                  <a:ext uri="{0D108BD9-81ED-4DB2-BD59-A6C34878D82A}">
                    <a16:rowId xmlns:a16="http://schemas.microsoft.com/office/drawing/2014/main" val="688544307"/>
                  </a:ext>
                </a:extLst>
              </a:tr>
              <a:tr h="879230">
                <a:tc>
                  <a:txBody>
                    <a:bodyPr/>
                    <a:lstStyle/>
                    <a:p>
                      <a:pPr>
                        <a:buNone/>
                      </a:pPr>
                      <a:r>
                        <a:rPr lang="en-IN" sz="1100" b="1"/>
                        <a:t>DistanceFromHome</a:t>
                      </a:r>
                      <a:endParaRPr lang="en-IN" sz="1100"/>
                    </a:p>
                  </a:txBody>
                  <a:tcPr marL="56967" marR="56967" marT="28483" marB="28483" anchor="ctr"/>
                </a:tc>
                <a:tc>
                  <a:txBody>
                    <a:bodyPr/>
                    <a:lstStyle/>
                    <a:p>
                      <a:pPr algn="ctr">
                        <a:buNone/>
                      </a:pPr>
                      <a:r>
                        <a:rPr lang="en-IN" sz="1100"/>
                        <a:t>9.19252</a:t>
                      </a:r>
                    </a:p>
                  </a:txBody>
                  <a:tcPr marL="56967" marR="56967" marT="28483" marB="28483" anchor="ctr"/>
                </a:tc>
                <a:tc>
                  <a:txBody>
                    <a:bodyPr/>
                    <a:lstStyle/>
                    <a:p>
                      <a:pPr algn="ctr">
                        <a:buNone/>
                      </a:pPr>
                      <a:r>
                        <a:rPr lang="en-IN" sz="1100" dirty="0"/>
                        <a:t>65.7213</a:t>
                      </a:r>
                    </a:p>
                  </a:txBody>
                  <a:tcPr marL="56967" marR="56967" marT="28483" marB="28483" anchor="ctr"/>
                </a:tc>
                <a:tc>
                  <a:txBody>
                    <a:bodyPr/>
                    <a:lstStyle/>
                    <a:p>
                      <a:pPr algn="ctr">
                        <a:buNone/>
                      </a:pPr>
                      <a:r>
                        <a:rPr lang="en-IN" sz="1100" dirty="0"/>
                        <a:t>8.10686</a:t>
                      </a:r>
                    </a:p>
                  </a:txBody>
                  <a:tcPr marL="56967" marR="56967" marT="28483" marB="28483" anchor="ctr"/>
                </a:tc>
                <a:tc>
                  <a:txBody>
                    <a:bodyPr/>
                    <a:lstStyle/>
                    <a:p>
                      <a:pPr algn="ctr">
                        <a:buNone/>
                      </a:pPr>
                      <a:r>
                        <a:rPr lang="en-IN" sz="1100"/>
                        <a:t>0.958118</a:t>
                      </a:r>
                    </a:p>
                  </a:txBody>
                  <a:tcPr marL="56967" marR="56967" marT="28483" marB="28483" anchor="ctr"/>
                </a:tc>
                <a:tc>
                  <a:txBody>
                    <a:bodyPr/>
                    <a:lstStyle/>
                    <a:p>
                      <a:pPr algn="ctr">
                        <a:buNone/>
                      </a:pPr>
                      <a:r>
                        <a:rPr lang="en-IN" sz="1100"/>
                        <a:t>-0.224833</a:t>
                      </a:r>
                    </a:p>
                  </a:txBody>
                  <a:tcPr marL="56967" marR="56967" marT="28483" marB="28483" anchor="ctr"/>
                </a:tc>
                <a:extLst>
                  <a:ext uri="{0D108BD9-81ED-4DB2-BD59-A6C34878D82A}">
                    <a16:rowId xmlns:a16="http://schemas.microsoft.com/office/drawing/2014/main" val="4210914641"/>
                  </a:ext>
                </a:extLst>
              </a:tr>
              <a:tr h="351692">
                <a:tc>
                  <a:txBody>
                    <a:bodyPr/>
                    <a:lstStyle/>
                    <a:p>
                      <a:pPr>
                        <a:buNone/>
                      </a:pPr>
                      <a:r>
                        <a:rPr lang="en-IN" sz="1100" b="1"/>
                        <a:t>Education</a:t>
                      </a:r>
                      <a:endParaRPr lang="en-IN" sz="1100"/>
                    </a:p>
                  </a:txBody>
                  <a:tcPr marL="56967" marR="56967" marT="28483" marB="28483" anchor="ctr"/>
                </a:tc>
                <a:tc>
                  <a:txBody>
                    <a:bodyPr/>
                    <a:lstStyle/>
                    <a:p>
                      <a:pPr algn="ctr">
                        <a:buNone/>
                      </a:pPr>
                      <a:r>
                        <a:rPr lang="en-IN" sz="1100"/>
                        <a:t>2.91293</a:t>
                      </a:r>
                    </a:p>
                  </a:txBody>
                  <a:tcPr marL="56967" marR="56967" marT="28483" marB="28483" anchor="ctr"/>
                </a:tc>
                <a:tc>
                  <a:txBody>
                    <a:bodyPr/>
                    <a:lstStyle/>
                    <a:p>
                      <a:pPr algn="ctr">
                        <a:buNone/>
                      </a:pPr>
                      <a:r>
                        <a:rPr lang="en-IN" sz="1100"/>
                        <a:t>1.04891</a:t>
                      </a:r>
                    </a:p>
                  </a:txBody>
                  <a:tcPr marL="56967" marR="56967" marT="28483" marB="28483" anchor="ctr"/>
                </a:tc>
                <a:tc>
                  <a:txBody>
                    <a:bodyPr/>
                    <a:lstStyle/>
                    <a:p>
                      <a:pPr algn="ctr">
                        <a:buNone/>
                      </a:pPr>
                      <a:r>
                        <a:rPr lang="en-IN" sz="1100" dirty="0"/>
                        <a:t>1.02416</a:t>
                      </a:r>
                    </a:p>
                  </a:txBody>
                  <a:tcPr marL="56967" marR="56967" marT="28483" marB="28483" anchor="ctr"/>
                </a:tc>
                <a:tc>
                  <a:txBody>
                    <a:bodyPr/>
                    <a:lstStyle/>
                    <a:p>
                      <a:pPr algn="ctr">
                        <a:buNone/>
                      </a:pPr>
                      <a:r>
                        <a:rPr lang="en-IN" sz="1100"/>
                        <a:t>-0.289681</a:t>
                      </a:r>
                    </a:p>
                  </a:txBody>
                  <a:tcPr marL="56967" marR="56967" marT="28483" marB="28483" anchor="ctr"/>
                </a:tc>
                <a:tc>
                  <a:txBody>
                    <a:bodyPr/>
                    <a:lstStyle/>
                    <a:p>
                      <a:pPr algn="ctr">
                        <a:buNone/>
                      </a:pPr>
                      <a:r>
                        <a:rPr lang="en-IN" sz="1100"/>
                        <a:t>-0.559115</a:t>
                      </a:r>
                    </a:p>
                  </a:txBody>
                  <a:tcPr marL="56967" marR="56967" marT="28483" marB="28483" anchor="ctr"/>
                </a:tc>
                <a:extLst>
                  <a:ext uri="{0D108BD9-81ED-4DB2-BD59-A6C34878D82A}">
                    <a16:rowId xmlns:a16="http://schemas.microsoft.com/office/drawing/2014/main" val="1868039483"/>
                  </a:ext>
                </a:extLst>
              </a:tr>
              <a:tr h="615462">
                <a:tc>
                  <a:txBody>
                    <a:bodyPr/>
                    <a:lstStyle/>
                    <a:p>
                      <a:pPr>
                        <a:buNone/>
                      </a:pPr>
                      <a:r>
                        <a:rPr lang="en-IN" sz="1100" b="1"/>
                        <a:t>EmployeeCount</a:t>
                      </a:r>
                      <a:endParaRPr lang="en-IN" sz="1100"/>
                    </a:p>
                  </a:txBody>
                  <a:tcPr marL="56967" marR="56967" marT="28483" marB="28483" anchor="ctr"/>
                </a:tc>
                <a:tc>
                  <a:txBody>
                    <a:bodyPr/>
                    <a:lstStyle/>
                    <a:p>
                      <a:pPr algn="ctr">
                        <a:buNone/>
                      </a:pPr>
                      <a:r>
                        <a:rPr lang="en-IN" sz="1100"/>
                        <a:t>1</a:t>
                      </a:r>
                    </a:p>
                  </a:txBody>
                  <a:tcPr marL="56967" marR="56967" marT="28483" marB="28483" anchor="ctr"/>
                </a:tc>
                <a:tc>
                  <a:txBody>
                    <a:bodyPr/>
                    <a:lstStyle/>
                    <a:p>
                      <a:pPr algn="ctr">
                        <a:buNone/>
                      </a:pPr>
                      <a:r>
                        <a:rPr lang="en-IN" sz="1100"/>
                        <a:t>1.23343e-32</a:t>
                      </a:r>
                    </a:p>
                  </a:txBody>
                  <a:tcPr marL="56967" marR="56967" marT="28483" marB="28483" anchor="ctr"/>
                </a:tc>
                <a:tc>
                  <a:txBody>
                    <a:bodyPr/>
                    <a:lstStyle/>
                    <a:p>
                      <a:pPr algn="ctr">
                        <a:buNone/>
                      </a:pPr>
                      <a:r>
                        <a:rPr lang="en-IN" sz="1100" dirty="0"/>
                        <a:t>1.110e-16</a:t>
                      </a:r>
                    </a:p>
                  </a:txBody>
                  <a:tcPr marL="56967" marR="56967" marT="28483" marB="28483" anchor="ctr"/>
                </a:tc>
                <a:tc>
                  <a:txBody>
                    <a:bodyPr/>
                    <a:lstStyle/>
                    <a:p>
                      <a:pPr algn="ctr">
                        <a:buNone/>
                      </a:pPr>
                      <a:r>
                        <a:rPr lang="en-IN" sz="1100"/>
                        <a:t>0</a:t>
                      </a:r>
                    </a:p>
                  </a:txBody>
                  <a:tcPr marL="56967" marR="56967" marT="28483" marB="28483" anchor="ctr"/>
                </a:tc>
                <a:tc>
                  <a:txBody>
                    <a:bodyPr/>
                    <a:lstStyle/>
                    <a:p>
                      <a:pPr algn="ctr">
                        <a:buNone/>
                      </a:pPr>
                      <a:r>
                        <a:rPr lang="en-IN" sz="1100"/>
                        <a:t>0</a:t>
                      </a:r>
                    </a:p>
                  </a:txBody>
                  <a:tcPr marL="56967" marR="56967" marT="28483" marB="28483" anchor="ctr"/>
                </a:tc>
                <a:extLst>
                  <a:ext uri="{0D108BD9-81ED-4DB2-BD59-A6C34878D82A}">
                    <a16:rowId xmlns:a16="http://schemas.microsoft.com/office/drawing/2014/main" val="2913489417"/>
                  </a:ext>
                </a:extLst>
              </a:tr>
              <a:tr h="615462">
                <a:tc>
                  <a:txBody>
                    <a:bodyPr/>
                    <a:lstStyle/>
                    <a:p>
                      <a:pPr>
                        <a:buNone/>
                      </a:pPr>
                      <a:r>
                        <a:rPr lang="en-IN" sz="1100" b="1"/>
                        <a:t>EmployeeNumber</a:t>
                      </a:r>
                      <a:endParaRPr lang="en-IN" sz="1100"/>
                    </a:p>
                  </a:txBody>
                  <a:tcPr marL="56967" marR="56967" marT="28483" marB="28483" anchor="ctr"/>
                </a:tc>
                <a:tc>
                  <a:txBody>
                    <a:bodyPr/>
                    <a:lstStyle/>
                    <a:p>
                      <a:pPr algn="ctr">
                        <a:buNone/>
                      </a:pPr>
                      <a:r>
                        <a:rPr lang="en-IN" sz="1100"/>
                        <a:t>1024.87</a:t>
                      </a:r>
                    </a:p>
                  </a:txBody>
                  <a:tcPr marL="56967" marR="56967" marT="28483" marB="28483" anchor="ctr"/>
                </a:tc>
                <a:tc>
                  <a:txBody>
                    <a:bodyPr/>
                    <a:lstStyle/>
                    <a:p>
                      <a:pPr algn="ctr">
                        <a:buNone/>
                      </a:pPr>
                      <a:r>
                        <a:rPr lang="en-IN" sz="1100"/>
                        <a:t>362433</a:t>
                      </a:r>
                    </a:p>
                  </a:txBody>
                  <a:tcPr marL="56967" marR="56967" marT="28483" marB="28483" anchor="ctr"/>
                </a:tc>
                <a:tc>
                  <a:txBody>
                    <a:bodyPr/>
                    <a:lstStyle/>
                    <a:p>
                      <a:pPr algn="ctr">
                        <a:buNone/>
                      </a:pPr>
                      <a:r>
                        <a:rPr lang="en-IN" sz="1100" dirty="0"/>
                        <a:t>602.024</a:t>
                      </a:r>
                    </a:p>
                  </a:txBody>
                  <a:tcPr marL="56967" marR="56967" marT="28483" marB="28483" anchor="ctr"/>
                </a:tc>
                <a:tc>
                  <a:txBody>
                    <a:bodyPr/>
                    <a:lstStyle/>
                    <a:p>
                      <a:pPr algn="ctr">
                        <a:buNone/>
                      </a:pPr>
                      <a:r>
                        <a:rPr lang="en-IN" sz="1100"/>
                        <a:t>0.016574</a:t>
                      </a:r>
                    </a:p>
                  </a:txBody>
                  <a:tcPr marL="56967" marR="56967" marT="28483" marB="28483" anchor="ctr"/>
                </a:tc>
                <a:tc>
                  <a:txBody>
                    <a:bodyPr/>
                    <a:lstStyle/>
                    <a:p>
                      <a:pPr algn="ctr">
                        <a:buNone/>
                      </a:pPr>
                      <a:r>
                        <a:rPr lang="en-IN" sz="1100"/>
                        <a:t>-1.22318</a:t>
                      </a:r>
                    </a:p>
                  </a:txBody>
                  <a:tcPr marL="56967" marR="56967" marT="28483" marB="28483" anchor="ctr"/>
                </a:tc>
                <a:extLst>
                  <a:ext uri="{0D108BD9-81ED-4DB2-BD59-A6C34878D82A}">
                    <a16:rowId xmlns:a16="http://schemas.microsoft.com/office/drawing/2014/main" val="769141345"/>
                  </a:ext>
                </a:extLst>
              </a:tr>
              <a:tr h="879230">
                <a:tc>
                  <a:txBody>
                    <a:bodyPr/>
                    <a:lstStyle/>
                    <a:p>
                      <a:pPr>
                        <a:buNone/>
                      </a:pPr>
                      <a:r>
                        <a:rPr lang="en-IN" sz="1100" b="1"/>
                        <a:t>EnvironmentSatisfaction</a:t>
                      </a:r>
                      <a:endParaRPr lang="en-IN" sz="1100"/>
                    </a:p>
                  </a:txBody>
                  <a:tcPr marL="56967" marR="56967" marT="28483" marB="28483" anchor="ctr"/>
                </a:tc>
                <a:tc>
                  <a:txBody>
                    <a:bodyPr/>
                    <a:lstStyle/>
                    <a:p>
                      <a:pPr algn="ctr">
                        <a:buNone/>
                      </a:pPr>
                      <a:r>
                        <a:rPr lang="en-IN" sz="1100"/>
                        <a:t>2.72177</a:t>
                      </a:r>
                    </a:p>
                  </a:txBody>
                  <a:tcPr marL="56967" marR="56967" marT="28483" marB="28483" anchor="ctr"/>
                </a:tc>
                <a:tc>
                  <a:txBody>
                    <a:bodyPr/>
                    <a:lstStyle/>
                    <a:p>
                      <a:pPr algn="ctr">
                        <a:buNone/>
                      </a:pPr>
                      <a:r>
                        <a:rPr lang="en-IN" sz="1100"/>
                        <a:t>1.19483</a:t>
                      </a:r>
                    </a:p>
                  </a:txBody>
                  <a:tcPr marL="56967" marR="56967" marT="28483" marB="28483" anchor="ctr"/>
                </a:tc>
                <a:tc>
                  <a:txBody>
                    <a:bodyPr/>
                    <a:lstStyle/>
                    <a:p>
                      <a:pPr algn="ctr">
                        <a:buNone/>
                      </a:pPr>
                      <a:r>
                        <a:rPr lang="en-IN" sz="1100"/>
                        <a:t>1.09308</a:t>
                      </a:r>
                    </a:p>
                  </a:txBody>
                  <a:tcPr marL="56967" marR="56967" marT="28483" marB="28483" anchor="ctr"/>
                </a:tc>
                <a:tc>
                  <a:txBody>
                    <a:bodyPr/>
                    <a:lstStyle/>
                    <a:p>
                      <a:pPr algn="ctr">
                        <a:buNone/>
                      </a:pPr>
                      <a:r>
                        <a:rPr lang="en-IN" sz="1100" dirty="0"/>
                        <a:t>-0.312654</a:t>
                      </a:r>
                    </a:p>
                  </a:txBody>
                  <a:tcPr marL="56967" marR="56967" marT="28483" marB="28483" anchor="ctr"/>
                </a:tc>
                <a:tc>
                  <a:txBody>
                    <a:bodyPr/>
                    <a:lstStyle/>
                    <a:p>
                      <a:pPr algn="ctr">
                        <a:buNone/>
                      </a:pPr>
                      <a:r>
                        <a:rPr lang="en-IN" sz="1100"/>
                        <a:t>-1.128</a:t>
                      </a:r>
                    </a:p>
                  </a:txBody>
                  <a:tcPr marL="56967" marR="56967" marT="28483" marB="28483" anchor="ctr"/>
                </a:tc>
                <a:extLst>
                  <a:ext uri="{0D108BD9-81ED-4DB2-BD59-A6C34878D82A}">
                    <a16:rowId xmlns:a16="http://schemas.microsoft.com/office/drawing/2014/main" val="3549960568"/>
                  </a:ext>
                </a:extLst>
              </a:tr>
              <a:tr h="615462">
                <a:tc>
                  <a:txBody>
                    <a:bodyPr/>
                    <a:lstStyle/>
                    <a:p>
                      <a:pPr>
                        <a:buNone/>
                      </a:pPr>
                      <a:r>
                        <a:rPr lang="en-IN" sz="1100" b="1"/>
                        <a:t>HourlyRate</a:t>
                      </a:r>
                      <a:endParaRPr lang="en-IN" sz="1100"/>
                    </a:p>
                  </a:txBody>
                  <a:tcPr marL="56967" marR="56967" marT="28483" marB="28483" anchor="ctr"/>
                </a:tc>
                <a:tc>
                  <a:txBody>
                    <a:bodyPr/>
                    <a:lstStyle/>
                    <a:p>
                      <a:pPr algn="ctr">
                        <a:buNone/>
                      </a:pPr>
                      <a:r>
                        <a:rPr lang="en-IN" sz="1100"/>
                        <a:t>65.8912</a:t>
                      </a:r>
                    </a:p>
                  </a:txBody>
                  <a:tcPr marL="56967" marR="56967" marT="28483" marB="28483" anchor="ctr"/>
                </a:tc>
                <a:tc>
                  <a:txBody>
                    <a:bodyPr/>
                    <a:lstStyle/>
                    <a:p>
                      <a:pPr algn="ctr">
                        <a:buNone/>
                      </a:pPr>
                      <a:r>
                        <a:rPr lang="en-IN" sz="1100"/>
                        <a:t>413.286</a:t>
                      </a:r>
                    </a:p>
                  </a:txBody>
                  <a:tcPr marL="56967" marR="56967" marT="28483" marB="28483" anchor="ctr"/>
                </a:tc>
                <a:tc>
                  <a:txBody>
                    <a:bodyPr/>
                    <a:lstStyle/>
                    <a:p>
                      <a:pPr algn="ctr">
                        <a:buNone/>
                      </a:pPr>
                      <a:r>
                        <a:rPr lang="en-IN" sz="1100"/>
                        <a:t>20.3294</a:t>
                      </a:r>
                    </a:p>
                  </a:txBody>
                  <a:tcPr marL="56967" marR="56967" marT="28483" marB="28483" anchor="ctr"/>
                </a:tc>
                <a:tc>
                  <a:txBody>
                    <a:bodyPr/>
                    <a:lstStyle/>
                    <a:p>
                      <a:pPr algn="ctr">
                        <a:buNone/>
                      </a:pPr>
                      <a:r>
                        <a:rPr lang="en-IN" sz="1100" dirty="0"/>
                        <a:t>-0.032311</a:t>
                      </a:r>
                    </a:p>
                  </a:txBody>
                  <a:tcPr marL="56967" marR="56967" marT="28483" marB="28483" anchor="ctr"/>
                </a:tc>
                <a:tc>
                  <a:txBody>
                    <a:bodyPr/>
                    <a:lstStyle/>
                    <a:p>
                      <a:pPr algn="ctr">
                        <a:buNone/>
                      </a:pPr>
                      <a:r>
                        <a:rPr lang="en-IN" sz="1100"/>
                        <a:t>-1.1964</a:t>
                      </a:r>
                    </a:p>
                  </a:txBody>
                  <a:tcPr marL="56967" marR="56967" marT="28483" marB="28483" anchor="ctr"/>
                </a:tc>
                <a:extLst>
                  <a:ext uri="{0D108BD9-81ED-4DB2-BD59-A6C34878D82A}">
                    <a16:rowId xmlns:a16="http://schemas.microsoft.com/office/drawing/2014/main" val="2252319889"/>
                  </a:ext>
                </a:extLst>
              </a:tr>
              <a:tr h="615462">
                <a:tc>
                  <a:txBody>
                    <a:bodyPr/>
                    <a:lstStyle/>
                    <a:p>
                      <a:pPr>
                        <a:buNone/>
                      </a:pPr>
                      <a:r>
                        <a:rPr lang="en-IN" sz="1100" b="1"/>
                        <a:t>JobInvolvement</a:t>
                      </a:r>
                      <a:endParaRPr lang="en-IN" sz="1100"/>
                    </a:p>
                  </a:txBody>
                  <a:tcPr marL="56967" marR="56967" marT="28483" marB="28483" anchor="ctr"/>
                </a:tc>
                <a:tc>
                  <a:txBody>
                    <a:bodyPr/>
                    <a:lstStyle/>
                    <a:p>
                      <a:pPr algn="ctr">
                        <a:buNone/>
                      </a:pPr>
                      <a:r>
                        <a:rPr lang="en-IN" sz="1100"/>
                        <a:t>2.72993</a:t>
                      </a:r>
                    </a:p>
                  </a:txBody>
                  <a:tcPr marL="56967" marR="56967" marT="28483" marB="28483" anchor="ctr"/>
                </a:tc>
                <a:tc>
                  <a:txBody>
                    <a:bodyPr/>
                    <a:lstStyle/>
                    <a:p>
                      <a:pPr algn="ctr">
                        <a:buNone/>
                      </a:pPr>
                      <a:r>
                        <a:rPr lang="en-IN" sz="1100"/>
                        <a:t>0.506319</a:t>
                      </a:r>
                    </a:p>
                  </a:txBody>
                  <a:tcPr marL="56967" marR="56967" marT="28483" marB="28483" anchor="ctr"/>
                </a:tc>
                <a:tc>
                  <a:txBody>
                    <a:bodyPr/>
                    <a:lstStyle/>
                    <a:p>
                      <a:pPr algn="ctr">
                        <a:buNone/>
                      </a:pPr>
                      <a:r>
                        <a:rPr lang="en-IN" sz="1100"/>
                        <a:t>0.711561</a:t>
                      </a:r>
                    </a:p>
                  </a:txBody>
                  <a:tcPr marL="56967" marR="56967" marT="28483" marB="28483" anchor="ctr"/>
                </a:tc>
                <a:tc>
                  <a:txBody>
                    <a:bodyPr/>
                    <a:lstStyle/>
                    <a:p>
                      <a:pPr algn="ctr">
                        <a:buNone/>
                      </a:pPr>
                      <a:r>
                        <a:rPr lang="en-IN" sz="1100" dirty="0"/>
                        <a:t>-0.498419</a:t>
                      </a:r>
                    </a:p>
                  </a:txBody>
                  <a:tcPr marL="56967" marR="56967" marT="28483" marB="28483" anchor="ctr"/>
                </a:tc>
                <a:tc>
                  <a:txBody>
                    <a:bodyPr/>
                    <a:lstStyle/>
                    <a:p>
                      <a:pPr algn="ctr">
                        <a:buNone/>
                      </a:pPr>
                      <a:r>
                        <a:rPr lang="en-IN" sz="1100"/>
                        <a:t>0.270999</a:t>
                      </a:r>
                    </a:p>
                  </a:txBody>
                  <a:tcPr marL="56967" marR="56967" marT="28483" marB="28483" anchor="ctr"/>
                </a:tc>
                <a:extLst>
                  <a:ext uri="{0D108BD9-81ED-4DB2-BD59-A6C34878D82A}">
                    <a16:rowId xmlns:a16="http://schemas.microsoft.com/office/drawing/2014/main" val="3294896669"/>
                  </a:ext>
                </a:extLst>
              </a:tr>
              <a:tr h="351692">
                <a:tc>
                  <a:txBody>
                    <a:bodyPr/>
                    <a:lstStyle/>
                    <a:p>
                      <a:pPr>
                        <a:buNone/>
                      </a:pPr>
                      <a:r>
                        <a:rPr lang="en-IN" sz="1100" b="1"/>
                        <a:t>JobLevel</a:t>
                      </a:r>
                      <a:endParaRPr lang="en-IN" sz="1100"/>
                    </a:p>
                  </a:txBody>
                  <a:tcPr marL="56967" marR="56967" marT="28483" marB="28483" anchor="ctr"/>
                </a:tc>
                <a:tc>
                  <a:txBody>
                    <a:bodyPr/>
                    <a:lstStyle/>
                    <a:p>
                      <a:pPr algn="ctr">
                        <a:buNone/>
                      </a:pPr>
                      <a:r>
                        <a:rPr lang="en-IN" sz="1100"/>
                        <a:t>2.06395</a:t>
                      </a:r>
                    </a:p>
                  </a:txBody>
                  <a:tcPr marL="56967" marR="56967" marT="28483" marB="28483" anchor="ctr"/>
                </a:tc>
                <a:tc>
                  <a:txBody>
                    <a:bodyPr/>
                    <a:lstStyle/>
                    <a:p>
                      <a:pPr algn="ctr">
                        <a:buNone/>
                      </a:pPr>
                      <a:r>
                        <a:rPr lang="en-IN" sz="1100"/>
                        <a:t>1.22532</a:t>
                      </a:r>
                    </a:p>
                  </a:txBody>
                  <a:tcPr marL="56967" marR="56967" marT="28483" marB="28483" anchor="ctr"/>
                </a:tc>
                <a:tc>
                  <a:txBody>
                    <a:bodyPr/>
                    <a:lstStyle/>
                    <a:p>
                      <a:pPr algn="ctr">
                        <a:buNone/>
                      </a:pPr>
                      <a:r>
                        <a:rPr lang="en-IN" sz="1100"/>
                        <a:t>1.10694</a:t>
                      </a:r>
                    </a:p>
                  </a:txBody>
                  <a:tcPr marL="56967" marR="56967" marT="28483" marB="28483" anchor="ctr"/>
                </a:tc>
                <a:tc>
                  <a:txBody>
                    <a:bodyPr/>
                    <a:lstStyle/>
                    <a:p>
                      <a:pPr algn="ctr">
                        <a:buNone/>
                      </a:pPr>
                      <a:r>
                        <a:rPr lang="en-IN" sz="1100" dirty="0"/>
                        <a:t>1.0254</a:t>
                      </a:r>
                    </a:p>
                  </a:txBody>
                  <a:tcPr marL="56967" marR="56967" marT="28483" marB="28483" anchor="ctr"/>
                </a:tc>
                <a:tc>
                  <a:txBody>
                    <a:bodyPr/>
                    <a:lstStyle/>
                    <a:p>
                      <a:pPr algn="ctr">
                        <a:buNone/>
                      </a:pPr>
                      <a:r>
                        <a:rPr lang="en-IN" sz="1100"/>
                        <a:t>0.399152</a:t>
                      </a:r>
                    </a:p>
                  </a:txBody>
                  <a:tcPr marL="56967" marR="56967" marT="28483" marB="28483" anchor="ctr"/>
                </a:tc>
                <a:extLst>
                  <a:ext uri="{0D108BD9-81ED-4DB2-BD59-A6C34878D82A}">
                    <a16:rowId xmlns:a16="http://schemas.microsoft.com/office/drawing/2014/main" val="265102179"/>
                  </a:ext>
                </a:extLst>
              </a:tr>
              <a:tr h="615462">
                <a:tc>
                  <a:txBody>
                    <a:bodyPr/>
                    <a:lstStyle/>
                    <a:p>
                      <a:pPr>
                        <a:buNone/>
                      </a:pPr>
                      <a:r>
                        <a:rPr lang="en-IN" sz="1100" b="1"/>
                        <a:t>JobSatisfaction</a:t>
                      </a:r>
                      <a:endParaRPr lang="en-IN" sz="1100"/>
                    </a:p>
                  </a:txBody>
                  <a:tcPr marL="56967" marR="56967" marT="28483" marB="28483" anchor="ctr"/>
                </a:tc>
                <a:tc>
                  <a:txBody>
                    <a:bodyPr/>
                    <a:lstStyle/>
                    <a:p>
                      <a:pPr algn="ctr">
                        <a:buNone/>
                      </a:pPr>
                      <a:r>
                        <a:rPr lang="en-IN" sz="1100"/>
                        <a:t>2.72857</a:t>
                      </a:r>
                    </a:p>
                  </a:txBody>
                  <a:tcPr marL="56967" marR="56967" marT="28483" marB="28483" anchor="ctr"/>
                </a:tc>
                <a:tc>
                  <a:txBody>
                    <a:bodyPr/>
                    <a:lstStyle/>
                    <a:p>
                      <a:pPr algn="ctr">
                        <a:buNone/>
                      </a:pPr>
                      <a:r>
                        <a:rPr lang="en-IN" sz="1100"/>
                        <a:t>1.21627</a:t>
                      </a:r>
                    </a:p>
                  </a:txBody>
                  <a:tcPr marL="56967" marR="56967" marT="28483" marB="28483" anchor="ctr"/>
                </a:tc>
                <a:tc>
                  <a:txBody>
                    <a:bodyPr/>
                    <a:lstStyle/>
                    <a:p>
                      <a:pPr algn="ctr">
                        <a:buNone/>
                      </a:pPr>
                      <a:r>
                        <a:rPr lang="en-IN" sz="1100"/>
                        <a:t>1.10285</a:t>
                      </a:r>
                    </a:p>
                  </a:txBody>
                  <a:tcPr marL="56967" marR="56967" marT="28483" marB="28483" anchor="ctr"/>
                </a:tc>
                <a:tc>
                  <a:txBody>
                    <a:bodyPr/>
                    <a:lstStyle/>
                    <a:p>
                      <a:pPr algn="ctr">
                        <a:buNone/>
                      </a:pPr>
                      <a:r>
                        <a:rPr lang="en-IN" sz="1100" dirty="0"/>
                        <a:t>-0.329672</a:t>
                      </a:r>
                    </a:p>
                  </a:txBody>
                  <a:tcPr marL="56967" marR="56967" marT="28483" marB="28483" anchor="ctr"/>
                </a:tc>
                <a:tc>
                  <a:txBody>
                    <a:bodyPr/>
                    <a:lstStyle/>
                    <a:p>
                      <a:pPr algn="ctr">
                        <a:buNone/>
                      </a:pPr>
                      <a:r>
                        <a:rPr lang="en-IN" sz="1100" dirty="0"/>
                        <a:t>-1.22219</a:t>
                      </a:r>
                    </a:p>
                  </a:txBody>
                  <a:tcPr marL="56967" marR="56967" marT="28483" marB="28483" anchor="ctr"/>
                </a:tc>
                <a:extLst>
                  <a:ext uri="{0D108BD9-81ED-4DB2-BD59-A6C34878D82A}">
                    <a16:rowId xmlns:a16="http://schemas.microsoft.com/office/drawing/2014/main" val="3418654018"/>
                  </a:ext>
                </a:extLst>
              </a:tr>
            </a:tbl>
          </a:graphicData>
        </a:graphic>
      </p:graphicFrame>
    </p:spTree>
    <p:extLst>
      <p:ext uri="{BB962C8B-B14F-4D97-AF65-F5344CB8AC3E}">
        <p14:creationId xmlns:p14="http://schemas.microsoft.com/office/powerpoint/2010/main" val="17120923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AED140-CAEF-2CAB-F2EE-6382CCD7A8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AB6F7C-1EA9-2189-1B83-CA7697B6F7DD}"/>
              </a:ext>
            </a:extLst>
          </p:cNvPr>
          <p:cNvSpPr>
            <a:spLocks noGrp="1"/>
          </p:cNvSpPr>
          <p:nvPr>
            <p:ph type="title"/>
          </p:nvPr>
        </p:nvSpPr>
        <p:spPr>
          <a:xfrm>
            <a:off x="804672" y="2287503"/>
            <a:ext cx="4486656" cy="1141497"/>
          </a:xfrm>
        </p:spPr>
        <p:txBody>
          <a:bodyPr/>
          <a:lstStyle/>
          <a:p>
            <a:r>
              <a:rPr lang="en-IN" dirty="0"/>
              <a:t>Exploratory Data Analysis</a:t>
            </a:r>
          </a:p>
        </p:txBody>
      </p:sp>
      <p:graphicFrame>
        <p:nvGraphicFramePr>
          <p:cNvPr id="7" name="Table 6">
            <a:extLst>
              <a:ext uri="{FF2B5EF4-FFF2-40B4-BE49-F238E27FC236}">
                <a16:creationId xmlns:a16="http://schemas.microsoft.com/office/drawing/2014/main" id="{DD7F879A-77F7-C389-E628-CDAF3F037102}"/>
              </a:ext>
            </a:extLst>
          </p:cNvPr>
          <p:cNvGraphicFramePr>
            <a:graphicFrameLocks noGrp="1"/>
          </p:cNvGraphicFramePr>
          <p:nvPr>
            <p:extLst>
              <p:ext uri="{D42A27DB-BD31-4B8C-83A1-F6EECF244321}">
                <p14:modId xmlns:p14="http://schemas.microsoft.com/office/powerpoint/2010/main" val="1519342309"/>
              </p:ext>
            </p:extLst>
          </p:nvPr>
        </p:nvGraphicFramePr>
        <p:xfrm>
          <a:off x="6096000" y="-1"/>
          <a:ext cx="6096000" cy="3234954"/>
        </p:xfrm>
        <a:graphic>
          <a:graphicData uri="http://schemas.openxmlformats.org/drawingml/2006/table">
            <a:tbl>
              <a:tblPr/>
              <a:tblGrid>
                <a:gridCol w="1016000">
                  <a:extLst>
                    <a:ext uri="{9D8B030D-6E8A-4147-A177-3AD203B41FA5}">
                      <a16:colId xmlns:a16="http://schemas.microsoft.com/office/drawing/2014/main" val="3719600358"/>
                    </a:ext>
                  </a:extLst>
                </a:gridCol>
                <a:gridCol w="1016000">
                  <a:extLst>
                    <a:ext uri="{9D8B030D-6E8A-4147-A177-3AD203B41FA5}">
                      <a16:colId xmlns:a16="http://schemas.microsoft.com/office/drawing/2014/main" val="517783930"/>
                    </a:ext>
                  </a:extLst>
                </a:gridCol>
                <a:gridCol w="1016000">
                  <a:extLst>
                    <a:ext uri="{9D8B030D-6E8A-4147-A177-3AD203B41FA5}">
                      <a16:colId xmlns:a16="http://schemas.microsoft.com/office/drawing/2014/main" val="3335727747"/>
                    </a:ext>
                  </a:extLst>
                </a:gridCol>
                <a:gridCol w="1016000">
                  <a:extLst>
                    <a:ext uri="{9D8B030D-6E8A-4147-A177-3AD203B41FA5}">
                      <a16:colId xmlns:a16="http://schemas.microsoft.com/office/drawing/2014/main" val="3970510130"/>
                    </a:ext>
                  </a:extLst>
                </a:gridCol>
                <a:gridCol w="1016000">
                  <a:extLst>
                    <a:ext uri="{9D8B030D-6E8A-4147-A177-3AD203B41FA5}">
                      <a16:colId xmlns:a16="http://schemas.microsoft.com/office/drawing/2014/main" val="4172164145"/>
                    </a:ext>
                  </a:extLst>
                </a:gridCol>
                <a:gridCol w="1016000">
                  <a:extLst>
                    <a:ext uri="{9D8B030D-6E8A-4147-A177-3AD203B41FA5}">
                      <a16:colId xmlns:a16="http://schemas.microsoft.com/office/drawing/2014/main" val="1230073183"/>
                    </a:ext>
                  </a:extLst>
                </a:gridCol>
              </a:tblGrid>
              <a:tr h="220228">
                <a:tc>
                  <a:txBody>
                    <a:bodyPr/>
                    <a:lstStyle/>
                    <a:p>
                      <a:pPr algn="ctr">
                        <a:buNone/>
                      </a:pPr>
                      <a:r>
                        <a:rPr lang="en-IN" sz="1000" b="1" dirty="0"/>
                        <a:t>Index</a:t>
                      </a:r>
                    </a:p>
                  </a:txBody>
                  <a:tcPr marL="52576" marR="52576" marT="26288" marB="26288" anchor="ctr">
                    <a:lnL>
                      <a:noFill/>
                    </a:lnL>
                    <a:lnR>
                      <a:noFill/>
                    </a:lnR>
                    <a:lnT>
                      <a:noFill/>
                    </a:lnT>
                    <a:lnB>
                      <a:noFill/>
                    </a:lnB>
                    <a:noFill/>
                  </a:tcPr>
                </a:tc>
                <a:tc>
                  <a:txBody>
                    <a:bodyPr/>
                    <a:lstStyle/>
                    <a:p>
                      <a:pPr algn="ctr">
                        <a:buNone/>
                      </a:pPr>
                      <a:r>
                        <a:rPr lang="en-IN" sz="1000" b="1" dirty="0"/>
                        <a:t>Mean</a:t>
                      </a:r>
                    </a:p>
                  </a:txBody>
                  <a:tcPr marL="52576" marR="52576" marT="26288" marB="26288" anchor="ctr">
                    <a:lnL>
                      <a:noFill/>
                    </a:lnL>
                    <a:lnR>
                      <a:noFill/>
                    </a:lnR>
                    <a:lnT>
                      <a:noFill/>
                    </a:lnT>
                    <a:lnB>
                      <a:noFill/>
                    </a:lnB>
                    <a:noFill/>
                  </a:tcPr>
                </a:tc>
                <a:tc>
                  <a:txBody>
                    <a:bodyPr/>
                    <a:lstStyle/>
                    <a:p>
                      <a:pPr algn="ctr">
                        <a:buNone/>
                      </a:pPr>
                      <a:r>
                        <a:rPr lang="en-IN" sz="1000" b="1" dirty="0"/>
                        <a:t>Variance</a:t>
                      </a:r>
                    </a:p>
                  </a:txBody>
                  <a:tcPr marL="52576" marR="52576" marT="26288" marB="26288" anchor="ctr">
                    <a:lnL>
                      <a:noFill/>
                    </a:lnL>
                    <a:lnR>
                      <a:noFill/>
                    </a:lnR>
                    <a:lnT>
                      <a:noFill/>
                    </a:lnT>
                    <a:lnB>
                      <a:noFill/>
                    </a:lnB>
                    <a:noFill/>
                  </a:tcPr>
                </a:tc>
                <a:tc>
                  <a:txBody>
                    <a:bodyPr/>
                    <a:lstStyle/>
                    <a:p>
                      <a:pPr algn="ctr">
                        <a:buNone/>
                      </a:pPr>
                      <a:r>
                        <a:rPr lang="en-IN" sz="1000" b="1" dirty="0"/>
                        <a:t>Std Dev</a:t>
                      </a:r>
                    </a:p>
                  </a:txBody>
                  <a:tcPr marL="52576" marR="52576" marT="26288" marB="26288" anchor="ctr">
                    <a:lnL>
                      <a:noFill/>
                    </a:lnL>
                    <a:lnR>
                      <a:noFill/>
                    </a:lnR>
                    <a:lnT>
                      <a:noFill/>
                    </a:lnT>
                    <a:lnB>
                      <a:noFill/>
                    </a:lnB>
                    <a:noFill/>
                  </a:tcPr>
                </a:tc>
                <a:tc>
                  <a:txBody>
                    <a:bodyPr/>
                    <a:lstStyle/>
                    <a:p>
                      <a:pPr algn="ctr">
                        <a:buNone/>
                      </a:pPr>
                      <a:r>
                        <a:rPr lang="en-IN" sz="1000" b="1" dirty="0"/>
                        <a:t>Skewness</a:t>
                      </a:r>
                    </a:p>
                  </a:txBody>
                  <a:tcPr marL="52576" marR="52576" marT="26288" marB="26288" anchor="ctr">
                    <a:lnL>
                      <a:noFill/>
                    </a:lnL>
                    <a:lnR>
                      <a:noFill/>
                    </a:lnR>
                    <a:lnT>
                      <a:noFill/>
                    </a:lnT>
                    <a:lnB>
                      <a:noFill/>
                    </a:lnB>
                    <a:noFill/>
                  </a:tcPr>
                </a:tc>
                <a:tc>
                  <a:txBody>
                    <a:bodyPr/>
                    <a:lstStyle/>
                    <a:p>
                      <a:pPr algn="ctr">
                        <a:buNone/>
                      </a:pPr>
                      <a:r>
                        <a:rPr lang="en-IN" sz="1000" b="1" dirty="0"/>
                        <a:t>Kurtosis</a:t>
                      </a:r>
                    </a:p>
                  </a:txBody>
                  <a:tcPr marL="52576" marR="52576" marT="26288" marB="26288" anchor="ctr">
                    <a:lnL>
                      <a:noFill/>
                    </a:lnL>
                    <a:lnR>
                      <a:noFill/>
                    </a:lnR>
                    <a:lnT>
                      <a:noFill/>
                    </a:lnT>
                    <a:lnB>
                      <a:noFill/>
                    </a:lnB>
                    <a:noFill/>
                  </a:tcPr>
                </a:tc>
                <a:extLst>
                  <a:ext uri="{0D108BD9-81ED-4DB2-BD59-A6C34878D82A}">
                    <a16:rowId xmlns:a16="http://schemas.microsoft.com/office/drawing/2014/main" val="3820408537"/>
                  </a:ext>
                </a:extLst>
              </a:tr>
              <a:tr h="383968">
                <a:tc>
                  <a:txBody>
                    <a:bodyPr/>
                    <a:lstStyle/>
                    <a:p>
                      <a:pPr>
                        <a:buNone/>
                      </a:pPr>
                      <a:r>
                        <a:rPr lang="en-IN" sz="1000" b="1"/>
                        <a:t>MonthlyIncome</a:t>
                      </a:r>
                      <a:endParaRPr lang="en-IN" sz="1000"/>
                    </a:p>
                  </a:txBody>
                  <a:tcPr marL="52576" marR="52576" marT="26288" marB="26288" anchor="ctr">
                    <a:lnL>
                      <a:noFill/>
                    </a:lnL>
                    <a:lnR>
                      <a:noFill/>
                    </a:lnR>
                    <a:lnT>
                      <a:noFill/>
                    </a:lnT>
                    <a:lnB>
                      <a:noFill/>
                    </a:lnB>
                    <a:noFill/>
                  </a:tcPr>
                </a:tc>
                <a:tc>
                  <a:txBody>
                    <a:bodyPr/>
                    <a:lstStyle/>
                    <a:p>
                      <a:pPr>
                        <a:buNone/>
                      </a:pPr>
                      <a:r>
                        <a:rPr lang="en-IN" sz="1000"/>
                        <a:t>6502.93</a:t>
                      </a:r>
                    </a:p>
                  </a:txBody>
                  <a:tcPr marL="52576" marR="52576" marT="26288" marB="26288" anchor="ctr">
                    <a:lnL>
                      <a:noFill/>
                    </a:lnL>
                    <a:lnR>
                      <a:noFill/>
                    </a:lnR>
                    <a:lnT>
                      <a:noFill/>
                    </a:lnT>
                    <a:lnB>
                      <a:noFill/>
                    </a:lnB>
                    <a:noFill/>
                  </a:tcPr>
                </a:tc>
                <a:tc>
                  <a:txBody>
                    <a:bodyPr/>
                    <a:lstStyle/>
                    <a:p>
                      <a:pPr>
                        <a:buNone/>
                      </a:pPr>
                      <a:r>
                        <a:rPr lang="en-IN" sz="1000"/>
                        <a:t>2.21649e+07</a:t>
                      </a:r>
                    </a:p>
                  </a:txBody>
                  <a:tcPr marL="52576" marR="52576" marT="26288" marB="26288" anchor="ctr">
                    <a:lnL>
                      <a:noFill/>
                    </a:lnL>
                    <a:lnR>
                      <a:noFill/>
                    </a:lnR>
                    <a:lnT>
                      <a:noFill/>
                    </a:lnT>
                    <a:lnB>
                      <a:noFill/>
                    </a:lnB>
                    <a:noFill/>
                  </a:tcPr>
                </a:tc>
                <a:tc>
                  <a:txBody>
                    <a:bodyPr/>
                    <a:lstStyle/>
                    <a:p>
                      <a:pPr>
                        <a:buNone/>
                      </a:pPr>
                      <a:r>
                        <a:rPr lang="en-IN" sz="1000"/>
                        <a:t>4707.96</a:t>
                      </a:r>
                    </a:p>
                  </a:txBody>
                  <a:tcPr marL="52576" marR="52576" marT="26288" marB="26288" anchor="ctr">
                    <a:lnL>
                      <a:noFill/>
                    </a:lnL>
                    <a:lnR>
                      <a:noFill/>
                    </a:lnR>
                    <a:lnT>
                      <a:noFill/>
                    </a:lnT>
                    <a:lnB>
                      <a:noFill/>
                    </a:lnB>
                    <a:noFill/>
                  </a:tcPr>
                </a:tc>
                <a:tc>
                  <a:txBody>
                    <a:bodyPr/>
                    <a:lstStyle/>
                    <a:p>
                      <a:pPr>
                        <a:buNone/>
                      </a:pPr>
                      <a:r>
                        <a:rPr lang="en-IN" sz="1000"/>
                        <a:t>1.36982</a:t>
                      </a:r>
                    </a:p>
                  </a:txBody>
                  <a:tcPr marL="52576" marR="52576" marT="26288" marB="26288" anchor="ctr">
                    <a:lnL>
                      <a:noFill/>
                    </a:lnL>
                    <a:lnR>
                      <a:noFill/>
                    </a:lnR>
                    <a:lnT>
                      <a:noFill/>
                    </a:lnT>
                    <a:lnB>
                      <a:noFill/>
                    </a:lnB>
                    <a:noFill/>
                  </a:tcPr>
                </a:tc>
                <a:tc>
                  <a:txBody>
                    <a:bodyPr/>
                    <a:lstStyle/>
                    <a:p>
                      <a:pPr>
                        <a:buNone/>
                      </a:pPr>
                      <a:r>
                        <a:rPr lang="en-IN" sz="1000"/>
                        <a:t>1.00523</a:t>
                      </a:r>
                    </a:p>
                  </a:txBody>
                  <a:tcPr marL="52576" marR="52576" marT="26288" marB="26288" anchor="ctr">
                    <a:lnL>
                      <a:noFill/>
                    </a:lnL>
                    <a:lnR>
                      <a:noFill/>
                    </a:lnR>
                    <a:lnT>
                      <a:noFill/>
                    </a:lnT>
                    <a:lnB>
                      <a:noFill/>
                    </a:lnB>
                    <a:noFill/>
                  </a:tcPr>
                </a:tc>
                <a:extLst>
                  <a:ext uri="{0D108BD9-81ED-4DB2-BD59-A6C34878D82A}">
                    <a16:rowId xmlns:a16="http://schemas.microsoft.com/office/drawing/2014/main" val="2759245369"/>
                  </a:ext>
                </a:extLst>
              </a:tr>
              <a:tr h="383522">
                <a:tc>
                  <a:txBody>
                    <a:bodyPr/>
                    <a:lstStyle/>
                    <a:p>
                      <a:pPr>
                        <a:buNone/>
                      </a:pPr>
                      <a:r>
                        <a:rPr lang="en-IN" sz="1000" b="1"/>
                        <a:t>MonthlyRate</a:t>
                      </a:r>
                      <a:endParaRPr lang="en-IN" sz="1000"/>
                    </a:p>
                  </a:txBody>
                  <a:tcPr marL="52576" marR="52576" marT="26288" marB="26288" anchor="ctr">
                    <a:lnL>
                      <a:noFill/>
                    </a:lnL>
                    <a:lnR>
                      <a:noFill/>
                    </a:lnR>
                    <a:lnT>
                      <a:noFill/>
                    </a:lnT>
                    <a:lnB>
                      <a:noFill/>
                    </a:lnB>
                    <a:noFill/>
                  </a:tcPr>
                </a:tc>
                <a:tc>
                  <a:txBody>
                    <a:bodyPr/>
                    <a:lstStyle/>
                    <a:p>
                      <a:pPr>
                        <a:buNone/>
                      </a:pPr>
                      <a:r>
                        <a:rPr lang="en-IN" sz="1000"/>
                        <a:t>14313.1</a:t>
                      </a:r>
                    </a:p>
                  </a:txBody>
                  <a:tcPr marL="52576" marR="52576" marT="26288" marB="26288" anchor="ctr">
                    <a:lnL>
                      <a:noFill/>
                    </a:lnL>
                    <a:lnR>
                      <a:noFill/>
                    </a:lnR>
                    <a:lnT>
                      <a:noFill/>
                    </a:lnT>
                    <a:lnB>
                      <a:noFill/>
                    </a:lnB>
                    <a:noFill/>
                  </a:tcPr>
                </a:tc>
                <a:tc>
                  <a:txBody>
                    <a:bodyPr/>
                    <a:lstStyle/>
                    <a:p>
                      <a:pPr>
                        <a:buNone/>
                      </a:pPr>
                      <a:r>
                        <a:rPr lang="en-IN" sz="1000"/>
                        <a:t>5.06629e+07</a:t>
                      </a:r>
                    </a:p>
                  </a:txBody>
                  <a:tcPr marL="52576" marR="52576" marT="26288" marB="26288" anchor="ctr">
                    <a:lnL>
                      <a:noFill/>
                    </a:lnL>
                    <a:lnR>
                      <a:noFill/>
                    </a:lnR>
                    <a:lnT>
                      <a:noFill/>
                    </a:lnT>
                    <a:lnB>
                      <a:noFill/>
                    </a:lnB>
                    <a:noFill/>
                  </a:tcPr>
                </a:tc>
                <a:tc>
                  <a:txBody>
                    <a:bodyPr/>
                    <a:lstStyle/>
                    <a:p>
                      <a:pPr>
                        <a:buNone/>
                      </a:pPr>
                      <a:r>
                        <a:rPr lang="en-IN" sz="1000"/>
                        <a:t>7117.79</a:t>
                      </a:r>
                    </a:p>
                  </a:txBody>
                  <a:tcPr marL="52576" marR="52576" marT="26288" marB="26288" anchor="ctr">
                    <a:lnL>
                      <a:noFill/>
                    </a:lnL>
                    <a:lnR>
                      <a:noFill/>
                    </a:lnR>
                    <a:lnT>
                      <a:noFill/>
                    </a:lnT>
                    <a:lnB>
                      <a:noFill/>
                    </a:lnB>
                    <a:noFill/>
                  </a:tcPr>
                </a:tc>
                <a:tc>
                  <a:txBody>
                    <a:bodyPr/>
                    <a:lstStyle/>
                    <a:p>
                      <a:pPr>
                        <a:buNone/>
                      </a:pPr>
                      <a:r>
                        <a:rPr lang="en-IN" sz="1000"/>
                        <a:t>0.0185778</a:t>
                      </a:r>
                    </a:p>
                  </a:txBody>
                  <a:tcPr marL="52576" marR="52576" marT="26288" marB="26288" anchor="ctr">
                    <a:lnL>
                      <a:noFill/>
                    </a:lnL>
                    <a:lnR>
                      <a:noFill/>
                    </a:lnR>
                    <a:lnT>
                      <a:noFill/>
                    </a:lnT>
                    <a:lnB>
                      <a:noFill/>
                    </a:lnB>
                    <a:noFill/>
                  </a:tcPr>
                </a:tc>
                <a:tc>
                  <a:txBody>
                    <a:bodyPr/>
                    <a:lstStyle/>
                    <a:p>
                      <a:pPr>
                        <a:buNone/>
                      </a:pPr>
                      <a:r>
                        <a:rPr lang="en-IN" sz="1000"/>
                        <a:t>-1.21496</a:t>
                      </a:r>
                    </a:p>
                  </a:txBody>
                  <a:tcPr marL="52576" marR="52576" marT="26288" marB="26288" anchor="ctr">
                    <a:lnL>
                      <a:noFill/>
                    </a:lnL>
                    <a:lnR>
                      <a:noFill/>
                    </a:lnR>
                    <a:lnT>
                      <a:noFill/>
                    </a:lnT>
                    <a:lnB>
                      <a:noFill/>
                    </a:lnB>
                    <a:noFill/>
                  </a:tcPr>
                </a:tc>
                <a:extLst>
                  <a:ext uri="{0D108BD9-81ED-4DB2-BD59-A6C34878D82A}">
                    <a16:rowId xmlns:a16="http://schemas.microsoft.com/office/drawing/2014/main" val="2425668973"/>
                  </a:ext>
                </a:extLst>
              </a:tr>
              <a:tr h="547889">
                <a:tc>
                  <a:txBody>
                    <a:bodyPr/>
                    <a:lstStyle/>
                    <a:p>
                      <a:pPr>
                        <a:buNone/>
                      </a:pPr>
                      <a:r>
                        <a:rPr lang="en-IN" sz="1000" b="1"/>
                        <a:t>NumCompaniesWorked</a:t>
                      </a:r>
                      <a:endParaRPr lang="en-IN" sz="1000"/>
                    </a:p>
                  </a:txBody>
                  <a:tcPr marL="52576" marR="52576" marT="26288" marB="26288" anchor="ctr">
                    <a:lnL>
                      <a:noFill/>
                    </a:lnL>
                    <a:lnR>
                      <a:noFill/>
                    </a:lnR>
                    <a:lnT>
                      <a:noFill/>
                    </a:lnT>
                    <a:lnB>
                      <a:noFill/>
                    </a:lnB>
                    <a:noFill/>
                  </a:tcPr>
                </a:tc>
                <a:tc>
                  <a:txBody>
                    <a:bodyPr/>
                    <a:lstStyle/>
                    <a:p>
                      <a:pPr>
                        <a:buNone/>
                      </a:pPr>
                      <a:r>
                        <a:rPr lang="en-IN" sz="1000"/>
                        <a:t>2.6932</a:t>
                      </a:r>
                    </a:p>
                  </a:txBody>
                  <a:tcPr marL="52576" marR="52576" marT="26288" marB="26288" anchor="ctr">
                    <a:lnL>
                      <a:noFill/>
                    </a:lnL>
                    <a:lnR>
                      <a:noFill/>
                    </a:lnR>
                    <a:lnT>
                      <a:noFill/>
                    </a:lnT>
                    <a:lnB>
                      <a:noFill/>
                    </a:lnB>
                    <a:noFill/>
                  </a:tcPr>
                </a:tc>
                <a:tc>
                  <a:txBody>
                    <a:bodyPr/>
                    <a:lstStyle/>
                    <a:p>
                      <a:pPr>
                        <a:buNone/>
                      </a:pPr>
                      <a:r>
                        <a:rPr lang="en-IN" sz="1000"/>
                        <a:t>6.24005</a:t>
                      </a:r>
                    </a:p>
                  </a:txBody>
                  <a:tcPr marL="52576" marR="52576" marT="26288" marB="26288" anchor="ctr">
                    <a:lnL>
                      <a:noFill/>
                    </a:lnL>
                    <a:lnR>
                      <a:noFill/>
                    </a:lnR>
                    <a:lnT>
                      <a:noFill/>
                    </a:lnT>
                    <a:lnB>
                      <a:noFill/>
                    </a:lnB>
                    <a:noFill/>
                  </a:tcPr>
                </a:tc>
                <a:tc>
                  <a:txBody>
                    <a:bodyPr/>
                    <a:lstStyle/>
                    <a:p>
                      <a:pPr>
                        <a:buNone/>
                      </a:pPr>
                      <a:r>
                        <a:rPr lang="en-IN" sz="1000"/>
                        <a:t>2.49881</a:t>
                      </a:r>
                    </a:p>
                  </a:txBody>
                  <a:tcPr marL="52576" marR="52576" marT="26288" marB="26288" anchor="ctr">
                    <a:lnL>
                      <a:noFill/>
                    </a:lnL>
                    <a:lnR>
                      <a:noFill/>
                    </a:lnR>
                    <a:lnT>
                      <a:noFill/>
                    </a:lnT>
                    <a:lnB>
                      <a:noFill/>
                    </a:lnB>
                    <a:noFill/>
                  </a:tcPr>
                </a:tc>
                <a:tc>
                  <a:txBody>
                    <a:bodyPr/>
                    <a:lstStyle/>
                    <a:p>
                      <a:pPr>
                        <a:buNone/>
                      </a:pPr>
                      <a:r>
                        <a:rPr lang="en-IN" sz="1000"/>
                        <a:t>1.02647</a:t>
                      </a:r>
                    </a:p>
                  </a:txBody>
                  <a:tcPr marL="52576" marR="52576" marT="26288" marB="26288" anchor="ctr">
                    <a:lnL>
                      <a:noFill/>
                    </a:lnL>
                    <a:lnR>
                      <a:noFill/>
                    </a:lnR>
                    <a:lnT>
                      <a:noFill/>
                    </a:lnT>
                    <a:lnB>
                      <a:noFill/>
                    </a:lnB>
                    <a:noFill/>
                  </a:tcPr>
                </a:tc>
                <a:tc>
                  <a:txBody>
                    <a:bodyPr/>
                    <a:lstStyle/>
                    <a:p>
                      <a:pPr>
                        <a:buNone/>
                      </a:pPr>
                      <a:r>
                        <a:rPr lang="en-IN" sz="1000"/>
                        <a:t>0.0102138</a:t>
                      </a:r>
                    </a:p>
                  </a:txBody>
                  <a:tcPr marL="52576" marR="52576" marT="26288" marB="26288" anchor="ctr">
                    <a:lnL>
                      <a:noFill/>
                    </a:lnL>
                    <a:lnR>
                      <a:noFill/>
                    </a:lnR>
                    <a:lnT>
                      <a:noFill/>
                    </a:lnT>
                    <a:lnB>
                      <a:noFill/>
                    </a:lnB>
                    <a:noFill/>
                  </a:tcPr>
                </a:tc>
                <a:extLst>
                  <a:ext uri="{0D108BD9-81ED-4DB2-BD59-A6C34878D82A}">
                    <a16:rowId xmlns:a16="http://schemas.microsoft.com/office/drawing/2014/main" val="2813970910"/>
                  </a:ext>
                </a:extLst>
              </a:tr>
              <a:tr h="383968">
                <a:tc>
                  <a:txBody>
                    <a:bodyPr/>
                    <a:lstStyle/>
                    <a:p>
                      <a:pPr>
                        <a:buNone/>
                      </a:pPr>
                      <a:r>
                        <a:rPr lang="en-IN" sz="1000" b="1"/>
                        <a:t>PercentSalaryHike</a:t>
                      </a:r>
                      <a:endParaRPr lang="en-IN" sz="1000"/>
                    </a:p>
                  </a:txBody>
                  <a:tcPr marL="52576" marR="52576" marT="26288" marB="26288" anchor="ctr">
                    <a:lnL>
                      <a:noFill/>
                    </a:lnL>
                    <a:lnR>
                      <a:noFill/>
                    </a:lnR>
                    <a:lnT>
                      <a:noFill/>
                    </a:lnT>
                    <a:lnB>
                      <a:noFill/>
                    </a:lnB>
                    <a:noFill/>
                  </a:tcPr>
                </a:tc>
                <a:tc>
                  <a:txBody>
                    <a:bodyPr/>
                    <a:lstStyle/>
                    <a:p>
                      <a:pPr>
                        <a:buNone/>
                      </a:pPr>
                      <a:r>
                        <a:rPr lang="en-IN" sz="1000"/>
                        <a:t>15.2095</a:t>
                      </a:r>
                    </a:p>
                  </a:txBody>
                  <a:tcPr marL="52576" marR="52576" marT="26288" marB="26288" anchor="ctr">
                    <a:lnL>
                      <a:noFill/>
                    </a:lnL>
                    <a:lnR>
                      <a:noFill/>
                    </a:lnR>
                    <a:lnT>
                      <a:noFill/>
                    </a:lnT>
                    <a:lnB>
                      <a:noFill/>
                    </a:lnB>
                    <a:noFill/>
                  </a:tcPr>
                </a:tc>
                <a:tc>
                  <a:txBody>
                    <a:bodyPr/>
                    <a:lstStyle/>
                    <a:p>
                      <a:pPr>
                        <a:buNone/>
                      </a:pPr>
                      <a:r>
                        <a:rPr lang="en-IN" sz="1000"/>
                        <a:t>13.3951</a:t>
                      </a:r>
                    </a:p>
                  </a:txBody>
                  <a:tcPr marL="52576" marR="52576" marT="26288" marB="26288" anchor="ctr">
                    <a:lnL>
                      <a:noFill/>
                    </a:lnL>
                    <a:lnR>
                      <a:noFill/>
                    </a:lnR>
                    <a:lnT>
                      <a:noFill/>
                    </a:lnT>
                    <a:lnB>
                      <a:noFill/>
                    </a:lnB>
                    <a:noFill/>
                  </a:tcPr>
                </a:tc>
                <a:tc>
                  <a:txBody>
                    <a:bodyPr/>
                    <a:lstStyle/>
                    <a:p>
                      <a:pPr>
                        <a:buNone/>
                      </a:pPr>
                      <a:r>
                        <a:rPr lang="en-IN" sz="1000"/>
                        <a:t>3.65994</a:t>
                      </a:r>
                    </a:p>
                  </a:txBody>
                  <a:tcPr marL="52576" marR="52576" marT="26288" marB="26288" anchor="ctr">
                    <a:lnL>
                      <a:noFill/>
                    </a:lnL>
                    <a:lnR>
                      <a:noFill/>
                    </a:lnR>
                    <a:lnT>
                      <a:noFill/>
                    </a:lnT>
                    <a:lnB>
                      <a:noFill/>
                    </a:lnB>
                    <a:noFill/>
                  </a:tcPr>
                </a:tc>
                <a:tc>
                  <a:txBody>
                    <a:bodyPr/>
                    <a:lstStyle/>
                    <a:p>
                      <a:pPr>
                        <a:buNone/>
                      </a:pPr>
                      <a:r>
                        <a:rPr lang="en-IN" sz="1000"/>
                        <a:t>0.821128</a:t>
                      </a:r>
                    </a:p>
                  </a:txBody>
                  <a:tcPr marL="52576" marR="52576" marT="26288" marB="26288" anchor="ctr">
                    <a:lnL>
                      <a:noFill/>
                    </a:lnL>
                    <a:lnR>
                      <a:noFill/>
                    </a:lnR>
                    <a:lnT>
                      <a:noFill/>
                    </a:lnT>
                    <a:lnB>
                      <a:noFill/>
                    </a:lnB>
                    <a:noFill/>
                  </a:tcPr>
                </a:tc>
                <a:tc>
                  <a:txBody>
                    <a:bodyPr/>
                    <a:lstStyle/>
                    <a:p>
                      <a:pPr>
                        <a:buNone/>
                      </a:pPr>
                      <a:r>
                        <a:rPr lang="en-IN" sz="1000"/>
                        <a:t>-0.300598</a:t>
                      </a:r>
                    </a:p>
                  </a:txBody>
                  <a:tcPr marL="52576" marR="52576" marT="26288" marB="26288" anchor="ctr">
                    <a:lnL>
                      <a:noFill/>
                    </a:lnL>
                    <a:lnR>
                      <a:noFill/>
                    </a:lnR>
                    <a:lnT>
                      <a:noFill/>
                    </a:lnT>
                    <a:lnB>
                      <a:noFill/>
                    </a:lnB>
                    <a:noFill/>
                  </a:tcPr>
                </a:tc>
                <a:extLst>
                  <a:ext uri="{0D108BD9-81ED-4DB2-BD59-A6C34878D82A}">
                    <a16:rowId xmlns:a16="http://schemas.microsoft.com/office/drawing/2014/main" val="2742907939"/>
                  </a:ext>
                </a:extLst>
              </a:tr>
              <a:tr h="383968">
                <a:tc>
                  <a:txBody>
                    <a:bodyPr/>
                    <a:lstStyle/>
                    <a:p>
                      <a:pPr>
                        <a:buNone/>
                      </a:pPr>
                      <a:r>
                        <a:rPr lang="en-IN" sz="1000" b="1"/>
                        <a:t>PerformanceRating</a:t>
                      </a:r>
                      <a:endParaRPr lang="en-IN" sz="1000"/>
                    </a:p>
                  </a:txBody>
                  <a:tcPr marL="52576" marR="52576" marT="26288" marB="26288" anchor="ctr">
                    <a:lnL>
                      <a:noFill/>
                    </a:lnL>
                    <a:lnR>
                      <a:noFill/>
                    </a:lnR>
                    <a:lnT>
                      <a:noFill/>
                    </a:lnT>
                    <a:lnB>
                      <a:noFill/>
                    </a:lnB>
                    <a:noFill/>
                  </a:tcPr>
                </a:tc>
                <a:tc>
                  <a:txBody>
                    <a:bodyPr/>
                    <a:lstStyle/>
                    <a:p>
                      <a:pPr>
                        <a:buNone/>
                      </a:pPr>
                      <a:r>
                        <a:rPr lang="en-IN" sz="1000"/>
                        <a:t>3.15374</a:t>
                      </a:r>
                    </a:p>
                  </a:txBody>
                  <a:tcPr marL="52576" marR="52576" marT="26288" marB="26288" anchor="ctr">
                    <a:lnL>
                      <a:noFill/>
                    </a:lnL>
                    <a:lnR>
                      <a:noFill/>
                    </a:lnR>
                    <a:lnT>
                      <a:noFill/>
                    </a:lnT>
                    <a:lnB>
                      <a:noFill/>
                    </a:lnB>
                    <a:noFill/>
                  </a:tcPr>
                </a:tc>
                <a:tc>
                  <a:txBody>
                    <a:bodyPr/>
                    <a:lstStyle/>
                    <a:p>
                      <a:pPr>
                        <a:buNone/>
                      </a:pPr>
                      <a:r>
                        <a:rPr lang="en-IN" sz="1000"/>
                        <a:t>0.130194</a:t>
                      </a:r>
                    </a:p>
                  </a:txBody>
                  <a:tcPr marL="52576" marR="52576" marT="26288" marB="26288" anchor="ctr">
                    <a:lnL>
                      <a:noFill/>
                    </a:lnL>
                    <a:lnR>
                      <a:noFill/>
                    </a:lnR>
                    <a:lnT>
                      <a:noFill/>
                    </a:lnT>
                    <a:lnB>
                      <a:noFill/>
                    </a:lnB>
                    <a:noFill/>
                  </a:tcPr>
                </a:tc>
                <a:tc>
                  <a:txBody>
                    <a:bodyPr/>
                    <a:lstStyle/>
                    <a:p>
                      <a:pPr>
                        <a:buNone/>
                      </a:pPr>
                      <a:r>
                        <a:rPr lang="en-IN" sz="1000"/>
                        <a:t>0.360824</a:t>
                      </a:r>
                    </a:p>
                  </a:txBody>
                  <a:tcPr marL="52576" marR="52576" marT="26288" marB="26288" anchor="ctr">
                    <a:lnL>
                      <a:noFill/>
                    </a:lnL>
                    <a:lnR>
                      <a:noFill/>
                    </a:lnR>
                    <a:lnT>
                      <a:noFill/>
                    </a:lnT>
                    <a:lnB>
                      <a:noFill/>
                    </a:lnB>
                    <a:noFill/>
                  </a:tcPr>
                </a:tc>
                <a:tc>
                  <a:txBody>
                    <a:bodyPr/>
                    <a:lstStyle/>
                    <a:p>
                      <a:pPr>
                        <a:buNone/>
                      </a:pPr>
                      <a:r>
                        <a:rPr lang="en-IN" sz="1000"/>
                        <a:t>1.92188</a:t>
                      </a:r>
                    </a:p>
                  </a:txBody>
                  <a:tcPr marL="52576" marR="52576" marT="26288" marB="26288" anchor="ctr">
                    <a:lnL>
                      <a:noFill/>
                    </a:lnL>
                    <a:lnR>
                      <a:noFill/>
                    </a:lnR>
                    <a:lnT>
                      <a:noFill/>
                    </a:lnT>
                    <a:lnB>
                      <a:noFill/>
                    </a:lnB>
                    <a:noFill/>
                  </a:tcPr>
                </a:tc>
                <a:tc>
                  <a:txBody>
                    <a:bodyPr/>
                    <a:lstStyle/>
                    <a:p>
                      <a:pPr>
                        <a:buNone/>
                      </a:pPr>
                      <a:r>
                        <a:rPr lang="en-IN" sz="1000"/>
                        <a:t>1.69594</a:t>
                      </a:r>
                    </a:p>
                  </a:txBody>
                  <a:tcPr marL="52576" marR="52576" marT="26288" marB="26288" anchor="ctr">
                    <a:lnL>
                      <a:noFill/>
                    </a:lnL>
                    <a:lnR>
                      <a:noFill/>
                    </a:lnR>
                    <a:lnT>
                      <a:noFill/>
                    </a:lnT>
                    <a:lnB>
                      <a:noFill/>
                    </a:lnB>
                    <a:noFill/>
                  </a:tcPr>
                </a:tc>
                <a:extLst>
                  <a:ext uri="{0D108BD9-81ED-4DB2-BD59-A6C34878D82A}">
                    <a16:rowId xmlns:a16="http://schemas.microsoft.com/office/drawing/2014/main" val="59449995"/>
                  </a:ext>
                </a:extLst>
              </a:tr>
              <a:tr h="547889">
                <a:tc>
                  <a:txBody>
                    <a:bodyPr/>
                    <a:lstStyle/>
                    <a:p>
                      <a:pPr>
                        <a:buNone/>
                      </a:pPr>
                      <a:r>
                        <a:rPr lang="en-IN" sz="1000" b="1"/>
                        <a:t>RelationshipSatisfaction</a:t>
                      </a:r>
                      <a:endParaRPr lang="en-IN" sz="1000"/>
                    </a:p>
                  </a:txBody>
                  <a:tcPr marL="52576" marR="52576" marT="26288" marB="26288" anchor="ctr">
                    <a:lnL>
                      <a:noFill/>
                    </a:lnL>
                    <a:lnR>
                      <a:noFill/>
                    </a:lnR>
                    <a:lnT>
                      <a:noFill/>
                    </a:lnT>
                    <a:lnB>
                      <a:noFill/>
                    </a:lnB>
                    <a:noFill/>
                  </a:tcPr>
                </a:tc>
                <a:tc>
                  <a:txBody>
                    <a:bodyPr/>
                    <a:lstStyle/>
                    <a:p>
                      <a:pPr>
                        <a:buNone/>
                      </a:pPr>
                      <a:r>
                        <a:rPr lang="en-IN" sz="1000"/>
                        <a:t>2.71224</a:t>
                      </a:r>
                    </a:p>
                  </a:txBody>
                  <a:tcPr marL="52576" marR="52576" marT="26288" marB="26288" anchor="ctr">
                    <a:lnL>
                      <a:noFill/>
                    </a:lnL>
                    <a:lnR>
                      <a:noFill/>
                    </a:lnR>
                    <a:lnT>
                      <a:noFill/>
                    </a:lnT>
                    <a:lnB>
                      <a:noFill/>
                    </a:lnB>
                    <a:noFill/>
                  </a:tcPr>
                </a:tc>
                <a:tc>
                  <a:txBody>
                    <a:bodyPr/>
                    <a:lstStyle/>
                    <a:p>
                      <a:pPr>
                        <a:buNone/>
                      </a:pPr>
                      <a:r>
                        <a:rPr lang="en-IN" sz="1000" dirty="0"/>
                        <a:t>1.16901</a:t>
                      </a:r>
                    </a:p>
                  </a:txBody>
                  <a:tcPr marL="52576" marR="52576" marT="26288" marB="26288" anchor="ctr">
                    <a:lnL>
                      <a:noFill/>
                    </a:lnL>
                    <a:lnR>
                      <a:noFill/>
                    </a:lnR>
                    <a:lnT>
                      <a:noFill/>
                    </a:lnT>
                    <a:lnB>
                      <a:noFill/>
                    </a:lnB>
                    <a:noFill/>
                  </a:tcPr>
                </a:tc>
                <a:tc>
                  <a:txBody>
                    <a:bodyPr/>
                    <a:lstStyle/>
                    <a:p>
                      <a:pPr>
                        <a:buNone/>
                      </a:pPr>
                      <a:r>
                        <a:rPr lang="en-IN" sz="1000"/>
                        <a:t>1.08121</a:t>
                      </a:r>
                    </a:p>
                  </a:txBody>
                  <a:tcPr marL="52576" marR="52576" marT="26288" marB="26288" anchor="ctr">
                    <a:lnL>
                      <a:noFill/>
                    </a:lnL>
                    <a:lnR>
                      <a:noFill/>
                    </a:lnR>
                    <a:lnT>
                      <a:noFill/>
                    </a:lnT>
                    <a:lnB>
                      <a:noFill/>
                    </a:lnB>
                    <a:noFill/>
                  </a:tcPr>
                </a:tc>
                <a:tc>
                  <a:txBody>
                    <a:bodyPr/>
                    <a:lstStyle/>
                    <a:p>
                      <a:pPr>
                        <a:buNone/>
                      </a:pPr>
                      <a:r>
                        <a:rPr lang="en-IN" sz="1000"/>
                        <a:t>-0.302828</a:t>
                      </a:r>
                    </a:p>
                  </a:txBody>
                  <a:tcPr marL="52576" marR="52576" marT="26288" marB="26288" anchor="ctr">
                    <a:lnL>
                      <a:noFill/>
                    </a:lnL>
                    <a:lnR>
                      <a:noFill/>
                    </a:lnR>
                    <a:lnT>
                      <a:noFill/>
                    </a:lnT>
                    <a:lnB>
                      <a:noFill/>
                    </a:lnB>
                    <a:noFill/>
                  </a:tcPr>
                </a:tc>
                <a:tc>
                  <a:txBody>
                    <a:bodyPr/>
                    <a:lstStyle/>
                    <a:p>
                      <a:pPr>
                        <a:buNone/>
                      </a:pPr>
                      <a:r>
                        <a:rPr lang="en-IN" sz="1000"/>
                        <a:t>-1.18481</a:t>
                      </a:r>
                    </a:p>
                  </a:txBody>
                  <a:tcPr marL="52576" marR="52576" marT="26288" marB="26288" anchor="ctr">
                    <a:lnL>
                      <a:noFill/>
                    </a:lnL>
                    <a:lnR>
                      <a:noFill/>
                    </a:lnR>
                    <a:lnT>
                      <a:noFill/>
                    </a:lnT>
                    <a:lnB>
                      <a:noFill/>
                    </a:lnB>
                    <a:noFill/>
                  </a:tcPr>
                </a:tc>
                <a:extLst>
                  <a:ext uri="{0D108BD9-81ED-4DB2-BD59-A6C34878D82A}">
                    <a16:rowId xmlns:a16="http://schemas.microsoft.com/office/drawing/2014/main" val="1444962354"/>
                  </a:ext>
                </a:extLst>
              </a:tr>
              <a:tr h="383522">
                <a:tc>
                  <a:txBody>
                    <a:bodyPr/>
                    <a:lstStyle/>
                    <a:p>
                      <a:pPr>
                        <a:buNone/>
                      </a:pPr>
                      <a:r>
                        <a:rPr lang="en-IN" sz="1000" b="1"/>
                        <a:t>StandardHours</a:t>
                      </a:r>
                      <a:endParaRPr lang="en-IN" sz="1000"/>
                    </a:p>
                  </a:txBody>
                  <a:tcPr marL="52576" marR="52576" marT="26288" marB="26288" anchor="ctr">
                    <a:lnL>
                      <a:noFill/>
                    </a:lnL>
                    <a:lnR>
                      <a:noFill/>
                    </a:lnR>
                    <a:lnT>
                      <a:noFill/>
                    </a:lnT>
                    <a:lnB>
                      <a:noFill/>
                    </a:lnB>
                    <a:noFill/>
                  </a:tcPr>
                </a:tc>
                <a:tc>
                  <a:txBody>
                    <a:bodyPr/>
                    <a:lstStyle/>
                    <a:p>
                      <a:pPr>
                        <a:buNone/>
                      </a:pPr>
                      <a:r>
                        <a:rPr lang="en-IN" sz="1000"/>
                        <a:t>80</a:t>
                      </a:r>
                    </a:p>
                  </a:txBody>
                  <a:tcPr marL="52576" marR="52576" marT="26288" marB="26288" anchor="ctr">
                    <a:lnL>
                      <a:noFill/>
                    </a:lnL>
                    <a:lnR>
                      <a:noFill/>
                    </a:lnR>
                    <a:lnT>
                      <a:noFill/>
                    </a:lnT>
                    <a:lnB>
                      <a:noFill/>
                    </a:lnB>
                    <a:noFill/>
                  </a:tcPr>
                </a:tc>
                <a:tc>
                  <a:txBody>
                    <a:bodyPr/>
                    <a:lstStyle/>
                    <a:p>
                      <a:pPr>
                        <a:buNone/>
                      </a:pPr>
                      <a:r>
                        <a:rPr lang="en-IN" sz="1000"/>
                        <a:t>0</a:t>
                      </a:r>
                    </a:p>
                  </a:txBody>
                  <a:tcPr marL="52576" marR="52576" marT="26288" marB="26288" anchor="ctr">
                    <a:lnL>
                      <a:noFill/>
                    </a:lnL>
                    <a:lnR>
                      <a:noFill/>
                    </a:lnR>
                    <a:lnT>
                      <a:noFill/>
                    </a:lnT>
                    <a:lnB>
                      <a:noFill/>
                    </a:lnB>
                    <a:noFill/>
                  </a:tcPr>
                </a:tc>
                <a:tc>
                  <a:txBody>
                    <a:bodyPr/>
                    <a:lstStyle/>
                    <a:p>
                      <a:pPr>
                        <a:buNone/>
                      </a:pPr>
                      <a:r>
                        <a:rPr lang="en-IN" sz="1000"/>
                        <a:t>0</a:t>
                      </a:r>
                    </a:p>
                  </a:txBody>
                  <a:tcPr marL="52576" marR="52576" marT="26288" marB="26288" anchor="ctr">
                    <a:lnL>
                      <a:noFill/>
                    </a:lnL>
                    <a:lnR>
                      <a:noFill/>
                    </a:lnR>
                    <a:lnT>
                      <a:noFill/>
                    </a:lnT>
                    <a:lnB>
                      <a:noFill/>
                    </a:lnB>
                    <a:noFill/>
                  </a:tcPr>
                </a:tc>
                <a:tc>
                  <a:txBody>
                    <a:bodyPr/>
                    <a:lstStyle/>
                    <a:p>
                      <a:pPr>
                        <a:buNone/>
                      </a:pPr>
                      <a:r>
                        <a:rPr lang="en-IN" sz="1000"/>
                        <a:t>0</a:t>
                      </a:r>
                    </a:p>
                  </a:txBody>
                  <a:tcPr marL="52576" marR="52576" marT="26288" marB="26288" anchor="ctr">
                    <a:lnL>
                      <a:noFill/>
                    </a:lnL>
                    <a:lnR>
                      <a:noFill/>
                    </a:lnR>
                    <a:lnT>
                      <a:noFill/>
                    </a:lnT>
                    <a:lnB>
                      <a:noFill/>
                    </a:lnB>
                    <a:noFill/>
                  </a:tcPr>
                </a:tc>
                <a:tc>
                  <a:txBody>
                    <a:bodyPr/>
                    <a:lstStyle/>
                    <a:p>
                      <a:pPr>
                        <a:buNone/>
                      </a:pPr>
                      <a:r>
                        <a:rPr lang="en-IN" sz="1000" dirty="0"/>
                        <a:t>0</a:t>
                      </a:r>
                    </a:p>
                  </a:txBody>
                  <a:tcPr marL="52576" marR="52576" marT="26288" marB="26288" anchor="ctr">
                    <a:lnL>
                      <a:noFill/>
                    </a:lnL>
                    <a:lnR>
                      <a:noFill/>
                    </a:lnR>
                    <a:lnT>
                      <a:noFill/>
                    </a:lnT>
                    <a:lnB>
                      <a:noFill/>
                    </a:lnB>
                    <a:noFill/>
                  </a:tcPr>
                </a:tc>
                <a:extLst>
                  <a:ext uri="{0D108BD9-81ED-4DB2-BD59-A6C34878D82A}">
                    <a16:rowId xmlns:a16="http://schemas.microsoft.com/office/drawing/2014/main" val="3610027935"/>
                  </a:ext>
                </a:extLst>
              </a:tr>
            </a:tbl>
          </a:graphicData>
        </a:graphic>
      </p:graphicFrame>
      <p:graphicFrame>
        <p:nvGraphicFramePr>
          <p:cNvPr id="8" name="Table 7">
            <a:extLst>
              <a:ext uri="{FF2B5EF4-FFF2-40B4-BE49-F238E27FC236}">
                <a16:creationId xmlns:a16="http://schemas.microsoft.com/office/drawing/2014/main" id="{E03973C6-CB6C-5CBB-71D7-AE473E774F0B}"/>
              </a:ext>
            </a:extLst>
          </p:cNvPr>
          <p:cNvGraphicFramePr>
            <a:graphicFrameLocks noGrp="1"/>
          </p:cNvGraphicFramePr>
          <p:nvPr>
            <p:extLst>
              <p:ext uri="{D42A27DB-BD31-4B8C-83A1-F6EECF244321}">
                <p14:modId xmlns:p14="http://schemas.microsoft.com/office/powerpoint/2010/main" val="1419061529"/>
              </p:ext>
            </p:extLst>
          </p:nvPr>
        </p:nvGraphicFramePr>
        <p:xfrm>
          <a:off x="6096000" y="3234955"/>
          <a:ext cx="6096000" cy="3623045"/>
        </p:xfrm>
        <a:graphic>
          <a:graphicData uri="http://schemas.openxmlformats.org/drawingml/2006/table">
            <a:tbl>
              <a:tblPr/>
              <a:tblGrid>
                <a:gridCol w="1016000">
                  <a:extLst>
                    <a:ext uri="{9D8B030D-6E8A-4147-A177-3AD203B41FA5}">
                      <a16:colId xmlns:a16="http://schemas.microsoft.com/office/drawing/2014/main" val="572020193"/>
                    </a:ext>
                  </a:extLst>
                </a:gridCol>
                <a:gridCol w="1016000">
                  <a:extLst>
                    <a:ext uri="{9D8B030D-6E8A-4147-A177-3AD203B41FA5}">
                      <a16:colId xmlns:a16="http://schemas.microsoft.com/office/drawing/2014/main" val="2284212829"/>
                    </a:ext>
                  </a:extLst>
                </a:gridCol>
                <a:gridCol w="1016000">
                  <a:extLst>
                    <a:ext uri="{9D8B030D-6E8A-4147-A177-3AD203B41FA5}">
                      <a16:colId xmlns:a16="http://schemas.microsoft.com/office/drawing/2014/main" val="825401914"/>
                    </a:ext>
                  </a:extLst>
                </a:gridCol>
                <a:gridCol w="1016000">
                  <a:extLst>
                    <a:ext uri="{9D8B030D-6E8A-4147-A177-3AD203B41FA5}">
                      <a16:colId xmlns:a16="http://schemas.microsoft.com/office/drawing/2014/main" val="1692261331"/>
                    </a:ext>
                  </a:extLst>
                </a:gridCol>
                <a:gridCol w="1016000">
                  <a:extLst>
                    <a:ext uri="{9D8B030D-6E8A-4147-A177-3AD203B41FA5}">
                      <a16:colId xmlns:a16="http://schemas.microsoft.com/office/drawing/2014/main" val="2458380823"/>
                    </a:ext>
                  </a:extLst>
                </a:gridCol>
                <a:gridCol w="1016000">
                  <a:extLst>
                    <a:ext uri="{9D8B030D-6E8A-4147-A177-3AD203B41FA5}">
                      <a16:colId xmlns:a16="http://schemas.microsoft.com/office/drawing/2014/main" val="3065746034"/>
                    </a:ext>
                  </a:extLst>
                </a:gridCol>
              </a:tblGrid>
              <a:tr h="392776">
                <a:tc>
                  <a:txBody>
                    <a:bodyPr/>
                    <a:lstStyle/>
                    <a:p>
                      <a:pPr>
                        <a:buNone/>
                      </a:pPr>
                      <a:r>
                        <a:rPr lang="en-IN" sz="900" b="1"/>
                        <a:t>StockOptionLevel</a:t>
                      </a:r>
                      <a:endParaRPr lang="en-IN" sz="900"/>
                    </a:p>
                  </a:txBody>
                  <a:tcPr marL="44956" marR="44956" marT="22478" marB="22478" anchor="ctr">
                    <a:lnL>
                      <a:noFill/>
                    </a:lnL>
                    <a:lnR>
                      <a:noFill/>
                    </a:lnR>
                    <a:lnT>
                      <a:noFill/>
                    </a:lnT>
                    <a:lnB>
                      <a:noFill/>
                    </a:lnB>
                    <a:noFill/>
                  </a:tcPr>
                </a:tc>
                <a:tc>
                  <a:txBody>
                    <a:bodyPr/>
                    <a:lstStyle/>
                    <a:p>
                      <a:pPr>
                        <a:buNone/>
                      </a:pPr>
                      <a:r>
                        <a:rPr lang="en-IN" sz="900"/>
                        <a:t>0.793878</a:t>
                      </a:r>
                    </a:p>
                  </a:txBody>
                  <a:tcPr marL="44956" marR="44956" marT="22478" marB="22478" anchor="ctr">
                    <a:lnL>
                      <a:noFill/>
                    </a:lnL>
                    <a:lnR>
                      <a:noFill/>
                    </a:lnR>
                    <a:lnT>
                      <a:noFill/>
                    </a:lnT>
                    <a:lnB>
                      <a:noFill/>
                    </a:lnB>
                    <a:noFill/>
                  </a:tcPr>
                </a:tc>
                <a:tc>
                  <a:txBody>
                    <a:bodyPr/>
                    <a:lstStyle/>
                    <a:p>
                      <a:pPr>
                        <a:buNone/>
                      </a:pPr>
                      <a:r>
                        <a:rPr lang="en-IN" sz="900"/>
                        <a:t>0.726335</a:t>
                      </a:r>
                    </a:p>
                  </a:txBody>
                  <a:tcPr marL="44956" marR="44956" marT="22478" marB="22478" anchor="ctr">
                    <a:lnL>
                      <a:noFill/>
                    </a:lnL>
                    <a:lnR>
                      <a:noFill/>
                    </a:lnR>
                    <a:lnT>
                      <a:noFill/>
                    </a:lnT>
                    <a:lnB>
                      <a:noFill/>
                    </a:lnB>
                    <a:noFill/>
                  </a:tcPr>
                </a:tc>
                <a:tc>
                  <a:txBody>
                    <a:bodyPr/>
                    <a:lstStyle/>
                    <a:p>
                      <a:pPr>
                        <a:buNone/>
                      </a:pPr>
                      <a:r>
                        <a:rPr lang="en-IN" sz="900"/>
                        <a:t>0.852077</a:t>
                      </a:r>
                    </a:p>
                  </a:txBody>
                  <a:tcPr marL="44956" marR="44956" marT="22478" marB="22478" anchor="ctr">
                    <a:lnL>
                      <a:noFill/>
                    </a:lnL>
                    <a:lnR>
                      <a:noFill/>
                    </a:lnR>
                    <a:lnT>
                      <a:noFill/>
                    </a:lnT>
                    <a:lnB>
                      <a:noFill/>
                    </a:lnB>
                    <a:noFill/>
                  </a:tcPr>
                </a:tc>
                <a:tc>
                  <a:txBody>
                    <a:bodyPr/>
                    <a:lstStyle/>
                    <a:p>
                      <a:pPr>
                        <a:buNone/>
                      </a:pPr>
                      <a:r>
                        <a:rPr lang="en-IN" sz="900" dirty="0"/>
                        <a:t>0.96898</a:t>
                      </a:r>
                    </a:p>
                  </a:txBody>
                  <a:tcPr marL="44956" marR="44956" marT="22478" marB="22478" anchor="ctr">
                    <a:lnL>
                      <a:noFill/>
                    </a:lnL>
                    <a:lnR>
                      <a:noFill/>
                    </a:lnR>
                    <a:lnT>
                      <a:noFill/>
                    </a:lnT>
                    <a:lnB>
                      <a:noFill/>
                    </a:lnB>
                    <a:noFill/>
                  </a:tcPr>
                </a:tc>
                <a:tc>
                  <a:txBody>
                    <a:bodyPr/>
                    <a:lstStyle/>
                    <a:p>
                      <a:pPr>
                        <a:buNone/>
                      </a:pPr>
                      <a:r>
                        <a:rPr lang="en-IN" sz="900" dirty="0"/>
                        <a:t>0.364634</a:t>
                      </a:r>
                    </a:p>
                  </a:txBody>
                  <a:tcPr marL="44956" marR="44956" marT="22478" marB="22478" anchor="ctr">
                    <a:lnL>
                      <a:noFill/>
                    </a:lnL>
                    <a:lnR>
                      <a:noFill/>
                    </a:lnR>
                    <a:lnT>
                      <a:noFill/>
                    </a:lnT>
                    <a:lnB>
                      <a:noFill/>
                    </a:lnB>
                    <a:noFill/>
                  </a:tcPr>
                </a:tc>
                <a:extLst>
                  <a:ext uri="{0D108BD9-81ED-4DB2-BD59-A6C34878D82A}">
                    <a16:rowId xmlns:a16="http://schemas.microsoft.com/office/drawing/2014/main" val="380775502"/>
                  </a:ext>
                </a:extLst>
              </a:tr>
              <a:tr h="392776">
                <a:tc>
                  <a:txBody>
                    <a:bodyPr/>
                    <a:lstStyle/>
                    <a:p>
                      <a:pPr>
                        <a:buNone/>
                      </a:pPr>
                      <a:r>
                        <a:rPr lang="en-IN" sz="900" b="1"/>
                        <a:t>TotalWorkingYears</a:t>
                      </a:r>
                      <a:endParaRPr lang="en-IN" sz="900"/>
                    </a:p>
                  </a:txBody>
                  <a:tcPr marL="44956" marR="44956" marT="22478" marB="22478" anchor="ctr">
                    <a:lnL>
                      <a:noFill/>
                    </a:lnL>
                    <a:lnR>
                      <a:noFill/>
                    </a:lnR>
                    <a:lnT>
                      <a:noFill/>
                    </a:lnT>
                    <a:lnB>
                      <a:noFill/>
                    </a:lnB>
                    <a:noFill/>
                  </a:tcPr>
                </a:tc>
                <a:tc>
                  <a:txBody>
                    <a:bodyPr/>
                    <a:lstStyle/>
                    <a:p>
                      <a:pPr>
                        <a:buNone/>
                      </a:pPr>
                      <a:r>
                        <a:rPr lang="en-IN" sz="900"/>
                        <a:t>11.2796</a:t>
                      </a:r>
                    </a:p>
                  </a:txBody>
                  <a:tcPr marL="44956" marR="44956" marT="22478" marB="22478" anchor="ctr">
                    <a:lnL>
                      <a:noFill/>
                    </a:lnL>
                    <a:lnR>
                      <a:noFill/>
                    </a:lnR>
                    <a:lnT>
                      <a:noFill/>
                    </a:lnT>
                    <a:lnB>
                      <a:noFill/>
                    </a:lnB>
                    <a:noFill/>
                  </a:tcPr>
                </a:tc>
                <a:tc>
                  <a:txBody>
                    <a:bodyPr/>
                    <a:lstStyle/>
                    <a:p>
                      <a:pPr>
                        <a:buNone/>
                      </a:pPr>
                      <a:r>
                        <a:rPr lang="en-IN" sz="900"/>
                        <a:t>60.5406</a:t>
                      </a:r>
                    </a:p>
                  </a:txBody>
                  <a:tcPr marL="44956" marR="44956" marT="22478" marB="22478" anchor="ctr">
                    <a:lnL>
                      <a:noFill/>
                    </a:lnL>
                    <a:lnR>
                      <a:noFill/>
                    </a:lnR>
                    <a:lnT>
                      <a:noFill/>
                    </a:lnT>
                    <a:lnB>
                      <a:noFill/>
                    </a:lnB>
                    <a:noFill/>
                  </a:tcPr>
                </a:tc>
                <a:tc>
                  <a:txBody>
                    <a:bodyPr/>
                    <a:lstStyle/>
                    <a:p>
                      <a:pPr>
                        <a:buNone/>
                      </a:pPr>
                      <a:r>
                        <a:rPr lang="en-IN" sz="900"/>
                        <a:t>7.78578</a:t>
                      </a:r>
                    </a:p>
                  </a:txBody>
                  <a:tcPr marL="44956" marR="44956" marT="22478" marB="22478" anchor="ctr">
                    <a:lnL>
                      <a:noFill/>
                    </a:lnL>
                    <a:lnR>
                      <a:noFill/>
                    </a:lnR>
                    <a:lnT>
                      <a:noFill/>
                    </a:lnT>
                    <a:lnB>
                      <a:noFill/>
                    </a:lnB>
                    <a:noFill/>
                  </a:tcPr>
                </a:tc>
                <a:tc>
                  <a:txBody>
                    <a:bodyPr/>
                    <a:lstStyle/>
                    <a:p>
                      <a:pPr>
                        <a:buNone/>
                      </a:pPr>
                      <a:r>
                        <a:rPr lang="en-IN" sz="900"/>
                        <a:t>1.11717</a:t>
                      </a:r>
                    </a:p>
                  </a:txBody>
                  <a:tcPr marL="44956" marR="44956" marT="22478" marB="22478" anchor="ctr">
                    <a:lnL>
                      <a:noFill/>
                    </a:lnL>
                    <a:lnR>
                      <a:noFill/>
                    </a:lnR>
                    <a:lnT>
                      <a:noFill/>
                    </a:lnT>
                    <a:lnB>
                      <a:noFill/>
                    </a:lnB>
                    <a:noFill/>
                  </a:tcPr>
                </a:tc>
                <a:tc>
                  <a:txBody>
                    <a:bodyPr/>
                    <a:lstStyle/>
                    <a:p>
                      <a:pPr>
                        <a:buNone/>
                      </a:pPr>
                      <a:r>
                        <a:rPr lang="en-IN" sz="900"/>
                        <a:t>0.91827</a:t>
                      </a:r>
                    </a:p>
                  </a:txBody>
                  <a:tcPr marL="44956" marR="44956" marT="22478" marB="22478" anchor="ctr">
                    <a:lnL>
                      <a:noFill/>
                    </a:lnL>
                    <a:lnR>
                      <a:noFill/>
                    </a:lnR>
                    <a:lnT>
                      <a:noFill/>
                    </a:lnT>
                    <a:lnB>
                      <a:noFill/>
                    </a:lnB>
                    <a:noFill/>
                  </a:tcPr>
                </a:tc>
                <a:extLst>
                  <a:ext uri="{0D108BD9-81ED-4DB2-BD59-A6C34878D82A}">
                    <a16:rowId xmlns:a16="http://schemas.microsoft.com/office/drawing/2014/main" val="2555579984"/>
                  </a:ext>
                </a:extLst>
              </a:tr>
              <a:tr h="553055">
                <a:tc>
                  <a:txBody>
                    <a:bodyPr/>
                    <a:lstStyle/>
                    <a:p>
                      <a:pPr>
                        <a:buNone/>
                      </a:pPr>
                      <a:r>
                        <a:rPr lang="en-IN" sz="900" b="1"/>
                        <a:t>TrainingTimesLastYear</a:t>
                      </a:r>
                      <a:endParaRPr lang="en-IN" sz="900"/>
                    </a:p>
                  </a:txBody>
                  <a:tcPr marL="44956" marR="44956" marT="22478" marB="22478" anchor="ctr">
                    <a:lnL>
                      <a:noFill/>
                    </a:lnL>
                    <a:lnR>
                      <a:noFill/>
                    </a:lnR>
                    <a:lnT>
                      <a:noFill/>
                    </a:lnT>
                    <a:lnB>
                      <a:noFill/>
                    </a:lnB>
                    <a:noFill/>
                  </a:tcPr>
                </a:tc>
                <a:tc>
                  <a:txBody>
                    <a:bodyPr/>
                    <a:lstStyle/>
                    <a:p>
                      <a:pPr>
                        <a:buNone/>
                      </a:pPr>
                      <a:r>
                        <a:rPr lang="en-IN" sz="900"/>
                        <a:t>2.79932</a:t>
                      </a:r>
                    </a:p>
                  </a:txBody>
                  <a:tcPr marL="44956" marR="44956" marT="22478" marB="22478" anchor="ctr">
                    <a:lnL>
                      <a:noFill/>
                    </a:lnL>
                    <a:lnR>
                      <a:noFill/>
                    </a:lnR>
                    <a:lnT>
                      <a:noFill/>
                    </a:lnT>
                    <a:lnB>
                      <a:noFill/>
                    </a:lnB>
                    <a:noFill/>
                  </a:tcPr>
                </a:tc>
                <a:tc>
                  <a:txBody>
                    <a:bodyPr/>
                    <a:lstStyle/>
                    <a:p>
                      <a:pPr>
                        <a:buNone/>
                      </a:pPr>
                      <a:r>
                        <a:rPr lang="en-IN" sz="900"/>
                        <a:t>1.66222</a:t>
                      </a:r>
                    </a:p>
                  </a:txBody>
                  <a:tcPr marL="44956" marR="44956" marT="22478" marB="22478" anchor="ctr">
                    <a:lnL>
                      <a:noFill/>
                    </a:lnL>
                    <a:lnR>
                      <a:noFill/>
                    </a:lnR>
                    <a:lnT>
                      <a:noFill/>
                    </a:lnT>
                    <a:lnB>
                      <a:noFill/>
                    </a:lnB>
                    <a:noFill/>
                  </a:tcPr>
                </a:tc>
                <a:tc>
                  <a:txBody>
                    <a:bodyPr/>
                    <a:lstStyle/>
                    <a:p>
                      <a:pPr>
                        <a:buNone/>
                      </a:pPr>
                      <a:r>
                        <a:rPr lang="en-IN" sz="900"/>
                        <a:t>1.28927</a:t>
                      </a:r>
                    </a:p>
                  </a:txBody>
                  <a:tcPr marL="44956" marR="44956" marT="22478" marB="22478" anchor="ctr">
                    <a:lnL>
                      <a:noFill/>
                    </a:lnL>
                    <a:lnR>
                      <a:noFill/>
                    </a:lnR>
                    <a:lnT>
                      <a:noFill/>
                    </a:lnT>
                    <a:lnB>
                      <a:noFill/>
                    </a:lnB>
                    <a:noFill/>
                  </a:tcPr>
                </a:tc>
                <a:tc>
                  <a:txBody>
                    <a:bodyPr/>
                    <a:lstStyle/>
                    <a:p>
                      <a:pPr>
                        <a:buNone/>
                      </a:pPr>
                      <a:r>
                        <a:rPr lang="en-IN" sz="900"/>
                        <a:t>0.553124</a:t>
                      </a:r>
                    </a:p>
                  </a:txBody>
                  <a:tcPr marL="44956" marR="44956" marT="22478" marB="22478" anchor="ctr">
                    <a:lnL>
                      <a:noFill/>
                    </a:lnL>
                    <a:lnR>
                      <a:noFill/>
                    </a:lnR>
                    <a:lnT>
                      <a:noFill/>
                    </a:lnT>
                    <a:lnB>
                      <a:noFill/>
                    </a:lnB>
                    <a:noFill/>
                  </a:tcPr>
                </a:tc>
                <a:tc>
                  <a:txBody>
                    <a:bodyPr/>
                    <a:lstStyle/>
                    <a:p>
                      <a:pPr>
                        <a:buNone/>
                      </a:pPr>
                      <a:r>
                        <a:rPr lang="en-IN" sz="900"/>
                        <a:t>0.494993</a:t>
                      </a:r>
                    </a:p>
                  </a:txBody>
                  <a:tcPr marL="44956" marR="44956" marT="22478" marB="22478" anchor="ctr">
                    <a:lnL>
                      <a:noFill/>
                    </a:lnL>
                    <a:lnR>
                      <a:noFill/>
                    </a:lnR>
                    <a:lnT>
                      <a:noFill/>
                    </a:lnT>
                    <a:lnB>
                      <a:noFill/>
                    </a:lnB>
                    <a:noFill/>
                  </a:tcPr>
                </a:tc>
                <a:extLst>
                  <a:ext uri="{0D108BD9-81ED-4DB2-BD59-A6C34878D82A}">
                    <a16:rowId xmlns:a16="http://schemas.microsoft.com/office/drawing/2014/main" val="3151233567"/>
                  </a:ext>
                </a:extLst>
              </a:tr>
              <a:tr h="392776">
                <a:tc>
                  <a:txBody>
                    <a:bodyPr/>
                    <a:lstStyle/>
                    <a:p>
                      <a:pPr>
                        <a:buNone/>
                      </a:pPr>
                      <a:r>
                        <a:rPr lang="en-IN" sz="900" b="1"/>
                        <a:t>WorkLifeBalance</a:t>
                      </a:r>
                      <a:endParaRPr lang="en-IN" sz="900"/>
                    </a:p>
                  </a:txBody>
                  <a:tcPr marL="44956" marR="44956" marT="22478" marB="22478" anchor="ctr">
                    <a:lnL>
                      <a:noFill/>
                    </a:lnL>
                    <a:lnR>
                      <a:noFill/>
                    </a:lnR>
                    <a:lnT>
                      <a:noFill/>
                    </a:lnT>
                    <a:lnB>
                      <a:noFill/>
                    </a:lnB>
                    <a:noFill/>
                  </a:tcPr>
                </a:tc>
                <a:tc>
                  <a:txBody>
                    <a:bodyPr/>
                    <a:lstStyle/>
                    <a:p>
                      <a:pPr>
                        <a:buNone/>
                      </a:pPr>
                      <a:r>
                        <a:rPr lang="en-IN" sz="900"/>
                        <a:t>2.76122</a:t>
                      </a:r>
                    </a:p>
                  </a:txBody>
                  <a:tcPr marL="44956" marR="44956" marT="22478" marB="22478" anchor="ctr">
                    <a:lnL>
                      <a:noFill/>
                    </a:lnL>
                    <a:lnR>
                      <a:noFill/>
                    </a:lnR>
                    <a:lnT>
                      <a:noFill/>
                    </a:lnT>
                    <a:lnB>
                      <a:noFill/>
                    </a:lnB>
                    <a:noFill/>
                  </a:tcPr>
                </a:tc>
                <a:tc>
                  <a:txBody>
                    <a:bodyPr/>
                    <a:lstStyle/>
                    <a:p>
                      <a:pPr>
                        <a:buNone/>
                      </a:pPr>
                      <a:r>
                        <a:rPr lang="en-IN" sz="900"/>
                        <a:t>0.499188</a:t>
                      </a:r>
                    </a:p>
                  </a:txBody>
                  <a:tcPr marL="44956" marR="44956" marT="22478" marB="22478" anchor="ctr">
                    <a:lnL>
                      <a:noFill/>
                    </a:lnL>
                    <a:lnR>
                      <a:noFill/>
                    </a:lnR>
                    <a:lnT>
                      <a:noFill/>
                    </a:lnT>
                    <a:lnB>
                      <a:noFill/>
                    </a:lnB>
                    <a:noFill/>
                  </a:tcPr>
                </a:tc>
                <a:tc>
                  <a:txBody>
                    <a:bodyPr/>
                    <a:lstStyle/>
                    <a:p>
                      <a:pPr>
                        <a:buNone/>
                      </a:pPr>
                      <a:r>
                        <a:rPr lang="en-IN" sz="900"/>
                        <a:t>0.706476</a:t>
                      </a:r>
                    </a:p>
                  </a:txBody>
                  <a:tcPr marL="44956" marR="44956" marT="22478" marB="22478" anchor="ctr">
                    <a:lnL>
                      <a:noFill/>
                    </a:lnL>
                    <a:lnR>
                      <a:noFill/>
                    </a:lnR>
                    <a:lnT>
                      <a:noFill/>
                    </a:lnT>
                    <a:lnB>
                      <a:noFill/>
                    </a:lnB>
                    <a:noFill/>
                  </a:tcPr>
                </a:tc>
                <a:tc>
                  <a:txBody>
                    <a:bodyPr/>
                    <a:lstStyle/>
                    <a:p>
                      <a:pPr>
                        <a:buNone/>
                      </a:pPr>
                      <a:r>
                        <a:rPr lang="en-IN" sz="900"/>
                        <a:t>-0.55248</a:t>
                      </a:r>
                    </a:p>
                  </a:txBody>
                  <a:tcPr marL="44956" marR="44956" marT="22478" marB="22478" anchor="ctr">
                    <a:lnL>
                      <a:noFill/>
                    </a:lnL>
                    <a:lnR>
                      <a:noFill/>
                    </a:lnR>
                    <a:lnT>
                      <a:noFill/>
                    </a:lnT>
                    <a:lnB>
                      <a:noFill/>
                    </a:lnB>
                    <a:noFill/>
                  </a:tcPr>
                </a:tc>
                <a:tc>
                  <a:txBody>
                    <a:bodyPr/>
                    <a:lstStyle/>
                    <a:p>
                      <a:pPr>
                        <a:buNone/>
                      </a:pPr>
                      <a:r>
                        <a:rPr lang="en-IN" sz="900"/>
                        <a:t>0.41946</a:t>
                      </a:r>
                    </a:p>
                  </a:txBody>
                  <a:tcPr marL="44956" marR="44956" marT="22478" marB="22478" anchor="ctr">
                    <a:lnL>
                      <a:noFill/>
                    </a:lnL>
                    <a:lnR>
                      <a:noFill/>
                    </a:lnR>
                    <a:lnT>
                      <a:noFill/>
                    </a:lnT>
                    <a:lnB>
                      <a:noFill/>
                    </a:lnB>
                    <a:noFill/>
                  </a:tcPr>
                </a:tc>
                <a:extLst>
                  <a:ext uri="{0D108BD9-81ED-4DB2-BD59-A6C34878D82A}">
                    <a16:rowId xmlns:a16="http://schemas.microsoft.com/office/drawing/2014/main" val="1076520256"/>
                  </a:ext>
                </a:extLst>
              </a:tr>
              <a:tr h="392776">
                <a:tc>
                  <a:txBody>
                    <a:bodyPr/>
                    <a:lstStyle/>
                    <a:p>
                      <a:pPr>
                        <a:buNone/>
                      </a:pPr>
                      <a:r>
                        <a:rPr lang="en-IN" sz="900" b="1"/>
                        <a:t>YearsAtCompany</a:t>
                      </a:r>
                      <a:endParaRPr lang="en-IN" sz="900"/>
                    </a:p>
                  </a:txBody>
                  <a:tcPr marL="44956" marR="44956" marT="22478" marB="22478" anchor="ctr">
                    <a:lnL>
                      <a:noFill/>
                    </a:lnL>
                    <a:lnR>
                      <a:noFill/>
                    </a:lnR>
                    <a:lnT>
                      <a:noFill/>
                    </a:lnT>
                    <a:lnB>
                      <a:noFill/>
                    </a:lnB>
                    <a:noFill/>
                  </a:tcPr>
                </a:tc>
                <a:tc>
                  <a:txBody>
                    <a:bodyPr/>
                    <a:lstStyle/>
                    <a:p>
                      <a:pPr>
                        <a:buNone/>
                      </a:pPr>
                      <a:r>
                        <a:rPr lang="en-IN" sz="900"/>
                        <a:t>7.08016</a:t>
                      </a:r>
                    </a:p>
                  </a:txBody>
                  <a:tcPr marL="44956" marR="44956" marT="22478" marB="22478" anchor="ctr">
                    <a:lnL>
                      <a:noFill/>
                    </a:lnL>
                    <a:lnR>
                      <a:noFill/>
                    </a:lnR>
                    <a:lnT>
                      <a:noFill/>
                    </a:lnT>
                    <a:lnB>
                      <a:noFill/>
                    </a:lnB>
                    <a:noFill/>
                  </a:tcPr>
                </a:tc>
                <a:tc>
                  <a:txBody>
                    <a:bodyPr/>
                    <a:lstStyle/>
                    <a:p>
                      <a:pPr>
                        <a:buNone/>
                      </a:pPr>
                      <a:r>
                        <a:rPr lang="en-IN" sz="900"/>
                        <a:t>37.5343</a:t>
                      </a:r>
                    </a:p>
                  </a:txBody>
                  <a:tcPr marL="44956" marR="44956" marT="22478" marB="22478" anchor="ctr">
                    <a:lnL>
                      <a:noFill/>
                    </a:lnL>
                    <a:lnR>
                      <a:noFill/>
                    </a:lnR>
                    <a:lnT>
                      <a:noFill/>
                    </a:lnT>
                    <a:lnB>
                      <a:noFill/>
                    </a:lnB>
                    <a:noFill/>
                  </a:tcPr>
                </a:tc>
                <a:tc>
                  <a:txBody>
                    <a:bodyPr/>
                    <a:lstStyle/>
                    <a:p>
                      <a:pPr>
                        <a:buNone/>
                      </a:pPr>
                      <a:r>
                        <a:rPr lang="en-IN" sz="900"/>
                        <a:t>6.12653</a:t>
                      </a:r>
                    </a:p>
                  </a:txBody>
                  <a:tcPr marL="44956" marR="44956" marT="22478" marB="22478" anchor="ctr">
                    <a:lnL>
                      <a:noFill/>
                    </a:lnL>
                    <a:lnR>
                      <a:noFill/>
                    </a:lnR>
                    <a:lnT>
                      <a:noFill/>
                    </a:lnT>
                    <a:lnB>
                      <a:noFill/>
                    </a:lnB>
                    <a:noFill/>
                  </a:tcPr>
                </a:tc>
                <a:tc>
                  <a:txBody>
                    <a:bodyPr/>
                    <a:lstStyle/>
                    <a:p>
                      <a:pPr>
                        <a:buNone/>
                      </a:pPr>
                      <a:r>
                        <a:rPr lang="en-IN" sz="900"/>
                        <a:t>1.76453</a:t>
                      </a:r>
                    </a:p>
                  </a:txBody>
                  <a:tcPr marL="44956" marR="44956" marT="22478" marB="22478" anchor="ctr">
                    <a:lnL>
                      <a:noFill/>
                    </a:lnL>
                    <a:lnR>
                      <a:noFill/>
                    </a:lnR>
                    <a:lnT>
                      <a:noFill/>
                    </a:lnT>
                    <a:lnB>
                      <a:noFill/>
                    </a:lnB>
                    <a:noFill/>
                  </a:tcPr>
                </a:tc>
                <a:tc>
                  <a:txBody>
                    <a:bodyPr/>
                    <a:lstStyle/>
                    <a:p>
                      <a:pPr>
                        <a:buNone/>
                      </a:pPr>
                      <a:r>
                        <a:rPr lang="en-IN" sz="900"/>
                        <a:t>3.93551</a:t>
                      </a:r>
                    </a:p>
                  </a:txBody>
                  <a:tcPr marL="44956" marR="44956" marT="22478" marB="22478" anchor="ctr">
                    <a:lnL>
                      <a:noFill/>
                    </a:lnL>
                    <a:lnR>
                      <a:noFill/>
                    </a:lnR>
                    <a:lnT>
                      <a:noFill/>
                    </a:lnT>
                    <a:lnB>
                      <a:noFill/>
                    </a:lnB>
                    <a:noFill/>
                  </a:tcPr>
                </a:tc>
                <a:extLst>
                  <a:ext uri="{0D108BD9-81ED-4DB2-BD59-A6C34878D82A}">
                    <a16:rowId xmlns:a16="http://schemas.microsoft.com/office/drawing/2014/main" val="612994942"/>
                  </a:ext>
                </a:extLst>
              </a:tr>
              <a:tr h="392776">
                <a:tc>
                  <a:txBody>
                    <a:bodyPr/>
                    <a:lstStyle/>
                    <a:p>
                      <a:pPr>
                        <a:buNone/>
                      </a:pPr>
                      <a:r>
                        <a:rPr lang="en-IN" sz="900" b="1"/>
                        <a:t>YearsInCurrentRole</a:t>
                      </a:r>
                      <a:endParaRPr lang="en-IN" sz="900"/>
                    </a:p>
                  </a:txBody>
                  <a:tcPr marL="44956" marR="44956" marT="22478" marB="22478" anchor="ctr">
                    <a:lnL>
                      <a:noFill/>
                    </a:lnL>
                    <a:lnR>
                      <a:noFill/>
                    </a:lnR>
                    <a:lnT>
                      <a:noFill/>
                    </a:lnT>
                    <a:lnB>
                      <a:noFill/>
                    </a:lnB>
                    <a:noFill/>
                  </a:tcPr>
                </a:tc>
                <a:tc>
                  <a:txBody>
                    <a:bodyPr/>
                    <a:lstStyle/>
                    <a:p>
                      <a:pPr>
                        <a:buNone/>
                      </a:pPr>
                      <a:r>
                        <a:rPr lang="en-IN" sz="900"/>
                        <a:t>4.22925</a:t>
                      </a:r>
                    </a:p>
                  </a:txBody>
                  <a:tcPr marL="44956" marR="44956" marT="22478" marB="22478" anchor="ctr">
                    <a:lnL>
                      <a:noFill/>
                    </a:lnL>
                    <a:lnR>
                      <a:noFill/>
                    </a:lnR>
                    <a:lnT>
                      <a:noFill/>
                    </a:lnT>
                    <a:lnB>
                      <a:noFill/>
                    </a:lnB>
                    <a:noFill/>
                  </a:tcPr>
                </a:tc>
                <a:tc>
                  <a:txBody>
                    <a:bodyPr/>
                    <a:lstStyle/>
                    <a:p>
                      <a:pPr>
                        <a:buNone/>
                      </a:pPr>
                      <a:r>
                        <a:rPr lang="en-IN" sz="900"/>
                        <a:t>13.1271</a:t>
                      </a:r>
                    </a:p>
                  </a:txBody>
                  <a:tcPr marL="44956" marR="44956" marT="22478" marB="22478" anchor="ctr">
                    <a:lnL>
                      <a:noFill/>
                    </a:lnL>
                    <a:lnR>
                      <a:noFill/>
                    </a:lnR>
                    <a:lnT>
                      <a:noFill/>
                    </a:lnT>
                    <a:lnB>
                      <a:noFill/>
                    </a:lnB>
                    <a:noFill/>
                  </a:tcPr>
                </a:tc>
                <a:tc>
                  <a:txBody>
                    <a:bodyPr/>
                    <a:lstStyle/>
                    <a:p>
                      <a:pPr>
                        <a:buNone/>
                      </a:pPr>
                      <a:r>
                        <a:rPr lang="en-IN" sz="900"/>
                        <a:t>3.62314</a:t>
                      </a:r>
                    </a:p>
                  </a:txBody>
                  <a:tcPr marL="44956" marR="44956" marT="22478" marB="22478" anchor="ctr">
                    <a:lnL>
                      <a:noFill/>
                    </a:lnL>
                    <a:lnR>
                      <a:noFill/>
                    </a:lnR>
                    <a:lnT>
                      <a:noFill/>
                    </a:lnT>
                    <a:lnB>
                      <a:noFill/>
                    </a:lnB>
                    <a:noFill/>
                  </a:tcPr>
                </a:tc>
                <a:tc>
                  <a:txBody>
                    <a:bodyPr/>
                    <a:lstStyle/>
                    <a:p>
                      <a:pPr>
                        <a:buNone/>
                      </a:pPr>
                      <a:r>
                        <a:rPr lang="en-IN" sz="900"/>
                        <a:t>0.917363</a:t>
                      </a:r>
                    </a:p>
                  </a:txBody>
                  <a:tcPr marL="44956" marR="44956" marT="22478" marB="22478" anchor="ctr">
                    <a:lnL>
                      <a:noFill/>
                    </a:lnL>
                    <a:lnR>
                      <a:noFill/>
                    </a:lnR>
                    <a:lnT>
                      <a:noFill/>
                    </a:lnT>
                    <a:lnB>
                      <a:noFill/>
                    </a:lnB>
                    <a:noFill/>
                  </a:tcPr>
                </a:tc>
                <a:tc>
                  <a:txBody>
                    <a:bodyPr/>
                    <a:lstStyle/>
                    <a:p>
                      <a:pPr>
                        <a:buNone/>
                      </a:pPr>
                      <a:r>
                        <a:rPr lang="en-IN" sz="900"/>
                        <a:t>0.477421</a:t>
                      </a:r>
                    </a:p>
                  </a:txBody>
                  <a:tcPr marL="44956" marR="44956" marT="22478" marB="22478" anchor="ctr">
                    <a:lnL>
                      <a:noFill/>
                    </a:lnL>
                    <a:lnR>
                      <a:noFill/>
                    </a:lnR>
                    <a:lnT>
                      <a:noFill/>
                    </a:lnT>
                    <a:lnB>
                      <a:noFill/>
                    </a:lnB>
                    <a:noFill/>
                  </a:tcPr>
                </a:tc>
                <a:extLst>
                  <a:ext uri="{0D108BD9-81ED-4DB2-BD59-A6C34878D82A}">
                    <a16:rowId xmlns:a16="http://schemas.microsoft.com/office/drawing/2014/main" val="2781126673"/>
                  </a:ext>
                </a:extLst>
              </a:tr>
              <a:tr h="553055">
                <a:tc>
                  <a:txBody>
                    <a:bodyPr/>
                    <a:lstStyle/>
                    <a:p>
                      <a:pPr>
                        <a:buNone/>
                      </a:pPr>
                      <a:r>
                        <a:rPr lang="en-IN" sz="900" b="1"/>
                        <a:t>YearsSinceLastPromotion</a:t>
                      </a:r>
                      <a:endParaRPr lang="en-IN" sz="900"/>
                    </a:p>
                  </a:txBody>
                  <a:tcPr marL="44956" marR="44956" marT="22478" marB="22478" anchor="ctr">
                    <a:lnL>
                      <a:noFill/>
                    </a:lnL>
                    <a:lnR>
                      <a:noFill/>
                    </a:lnR>
                    <a:lnT>
                      <a:noFill/>
                    </a:lnT>
                    <a:lnB>
                      <a:noFill/>
                    </a:lnB>
                    <a:noFill/>
                  </a:tcPr>
                </a:tc>
                <a:tc>
                  <a:txBody>
                    <a:bodyPr/>
                    <a:lstStyle/>
                    <a:p>
                      <a:pPr>
                        <a:buNone/>
                      </a:pPr>
                      <a:r>
                        <a:rPr lang="en-IN" sz="900"/>
                        <a:t>2.18776</a:t>
                      </a:r>
                    </a:p>
                  </a:txBody>
                  <a:tcPr marL="44956" marR="44956" marT="22478" marB="22478" anchor="ctr">
                    <a:lnL>
                      <a:noFill/>
                    </a:lnL>
                    <a:lnR>
                      <a:noFill/>
                    </a:lnR>
                    <a:lnT>
                      <a:noFill/>
                    </a:lnT>
                    <a:lnB>
                      <a:noFill/>
                    </a:lnB>
                    <a:noFill/>
                  </a:tcPr>
                </a:tc>
                <a:tc>
                  <a:txBody>
                    <a:bodyPr/>
                    <a:lstStyle/>
                    <a:p>
                      <a:pPr>
                        <a:buNone/>
                      </a:pPr>
                      <a:r>
                        <a:rPr lang="en-IN" sz="900"/>
                        <a:t>10.3841</a:t>
                      </a:r>
                    </a:p>
                  </a:txBody>
                  <a:tcPr marL="44956" marR="44956" marT="22478" marB="22478" anchor="ctr">
                    <a:lnL>
                      <a:noFill/>
                    </a:lnL>
                    <a:lnR>
                      <a:noFill/>
                    </a:lnR>
                    <a:lnT>
                      <a:noFill/>
                    </a:lnT>
                    <a:lnB>
                      <a:noFill/>
                    </a:lnB>
                    <a:noFill/>
                  </a:tcPr>
                </a:tc>
                <a:tc>
                  <a:txBody>
                    <a:bodyPr/>
                    <a:lstStyle/>
                    <a:p>
                      <a:pPr>
                        <a:buNone/>
                      </a:pPr>
                      <a:r>
                        <a:rPr lang="en-IN" sz="900"/>
                        <a:t>3.22243</a:t>
                      </a:r>
                    </a:p>
                  </a:txBody>
                  <a:tcPr marL="44956" marR="44956" marT="22478" marB="22478" anchor="ctr">
                    <a:lnL>
                      <a:noFill/>
                    </a:lnL>
                    <a:lnR>
                      <a:noFill/>
                    </a:lnR>
                    <a:lnT>
                      <a:noFill/>
                    </a:lnT>
                    <a:lnB>
                      <a:noFill/>
                    </a:lnB>
                    <a:noFill/>
                  </a:tcPr>
                </a:tc>
                <a:tc>
                  <a:txBody>
                    <a:bodyPr/>
                    <a:lstStyle/>
                    <a:p>
                      <a:pPr>
                        <a:buNone/>
                      </a:pPr>
                      <a:r>
                        <a:rPr lang="en-IN" sz="900"/>
                        <a:t>1.98429</a:t>
                      </a:r>
                    </a:p>
                  </a:txBody>
                  <a:tcPr marL="44956" marR="44956" marT="22478" marB="22478" anchor="ctr">
                    <a:lnL>
                      <a:noFill/>
                    </a:lnL>
                    <a:lnR>
                      <a:noFill/>
                    </a:lnR>
                    <a:lnT>
                      <a:noFill/>
                    </a:lnT>
                    <a:lnB>
                      <a:noFill/>
                    </a:lnB>
                    <a:noFill/>
                  </a:tcPr>
                </a:tc>
                <a:tc>
                  <a:txBody>
                    <a:bodyPr/>
                    <a:lstStyle/>
                    <a:p>
                      <a:pPr>
                        <a:buNone/>
                      </a:pPr>
                      <a:r>
                        <a:rPr lang="en-IN" sz="900"/>
                        <a:t>3.61267</a:t>
                      </a:r>
                    </a:p>
                  </a:txBody>
                  <a:tcPr marL="44956" marR="44956" marT="22478" marB="22478" anchor="ctr">
                    <a:lnL>
                      <a:noFill/>
                    </a:lnL>
                    <a:lnR>
                      <a:noFill/>
                    </a:lnR>
                    <a:lnT>
                      <a:noFill/>
                    </a:lnT>
                    <a:lnB>
                      <a:noFill/>
                    </a:lnB>
                    <a:noFill/>
                  </a:tcPr>
                </a:tc>
                <a:extLst>
                  <a:ext uri="{0D108BD9-81ED-4DB2-BD59-A6C34878D82A}">
                    <a16:rowId xmlns:a16="http://schemas.microsoft.com/office/drawing/2014/main" val="525237584"/>
                  </a:ext>
                </a:extLst>
              </a:tr>
              <a:tr h="553055">
                <a:tc>
                  <a:txBody>
                    <a:bodyPr/>
                    <a:lstStyle/>
                    <a:p>
                      <a:pPr>
                        <a:buNone/>
                      </a:pPr>
                      <a:r>
                        <a:rPr lang="en-IN" sz="900" b="1"/>
                        <a:t>YearsWithCurrManager</a:t>
                      </a:r>
                      <a:endParaRPr lang="en-IN" sz="900"/>
                    </a:p>
                  </a:txBody>
                  <a:tcPr marL="44956" marR="44956" marT="22478" marB="22478" anchor="ctr">
                    <a:lnL>
                      <a:noFill/>
                    </a:lnL>
                    <a:lnR>
                      <a:noFill/>
                    </a:lnR>
                    <a:lnT>
                      <a:noFill/>
                    </a:lnT>
                    <a:lnB>
                      <a:noFill/>
                    </a:lnB>
                    <a:noFill/>
                  </a:tcPr>
                </a:tc>
                <a:tc>
                  <a:txBody>
                    <a:bodyPr/>
                    <a:lstStyle/>
                    <a:p>
                      <a:pPr>
                        <a:buNone/>
                      </a:pPr>
                      <a:r>
                        <a:rPr lang="en-IN" sz="900"/>
                        <a:t>4.12313</a:t>
                      </a:r>
                    </a:p>
                  </a:txBody>
                  <a:tcPr marL="44956" marR="44956" marT="22478" marB="22478" anchor="ctr">
                    <a:lnL>
                      <a:noFill/>
                    </a:lnL>
                    <a:lnR>
                      <a:noFill/>
                    </a:lnR>
                    <a:lnT>
                      <a:noFill/>
                    </a:lnT>
                    <a:lnB>
                      <a:noFill/>
                    </a:lnB>
                    <a:noFill/>
                  </a:tcPr>
                </a:tc>
                <a:tc>
                  <a:txBody>
                    <a:bodyPr/>
                    <a:lstStyle/>
                    <a:p>
                      <a:pPr>
                        <a:buNone/>
                      </a:pPr>
                      <a:r>
                        <a:rPr lang="en-IN" sz="900"/>
                        <a:t>12.7316</a:t>
                      </a:r>
                    </a:p>
                  </a:txBody>
                  <a:tcPr marL="44956" marR="44956" marT="22478" marB="22478" anchor="ctr">
                    <a:lnL>
                      <a:noFill/>
                    </a:lnL>
                    <a:lnR>
                      <a:noFill/>
                    </a:lnR>
                    <a:lnT>
                      <a:noFill/>
                    </a:lnT>
                    <a:lnB>
                      <a:noFill/>
                    </a:lnB>
                    <a:noFill/>
                  </a:tcPr>
                </a:tc>
                <a:tc>
                  <a:txBody>
                    <a:bodyPr/>
                    <a:lstStyle/>
                    <a:p>
                      <a:pPr>
                        <a:buNone/>
                      </a:pPr>
                      <a:r>
                        <a:rPr lang="en-IN" sz="900"/>
                        <a:t>3.56814</a:t>
                      </a:r>
                    </a:p>
                  </a:txBody>
                  <a:tcPr marL="44956" marR="44956" marT="22478" marB="22478" anchor="ctr">
                    <a:lnL>
                      <a:noFill/>
                    </a:lnL>
                    <a:lnR>
                      <a:noFill/>
                    </a:lnR>
                    <a:lnT>
                      <a:noFill/>
                    </a:lnT>
                    <a:lnB>
                      <a:noFill/>
                    </a:lnB>
                    <a:noFill/>
                  </a:tcPr>
                </a:tc>
                <a:tc>
                  <a:txBody>
                    <a:bodyPr/>
                    <a:lstStyle/>
                    <a:p>
                      <a:pPr>
                        <a:buNone/>
                      </a:pPr>
                      <a:r>
                        <a:rPr lang="en-IN" sz="900"/>
                        <a:t>0.833451</a:t>
                      </a:r>
                    </a:p>
                  </a:txBody>
                  <a:tcPr marL="44956" marR="44956" marT="22478" marB="22478" anchor="ctr">
                    <a:lnL>
                      <a:noFill/>
                    </a:lnL>
                    <a:lnR>
                      <a:noFill/>
                    </a:lnR>
                    <a:lnT>
                      <a:noFill/>
                    </a:lnT>
                    <a:lnB>
                      <a:noFill/>
                    </a:lnB>
                    <a:noFill/>
                  </a:tcPr>
                </a:tc>
                <a:tc>
                  <a:txBody>
                    <a:bodyPr/>
                    <a:lstStyle/>
                    <a:p>
                      <a:pPr>
                        <a:buNone/>
                      </a:pPr>
                      <a:r>
                        <a:rPr lang="en-IN" sz="900" dirty="0"/>
                        <a:t>0.171058</a:t>
                      </a:r>
                    </a:p>
                  </a:txBody>
                  <a:tcPr marL="44956" marR="44956" marT="22478" marB="22478" anchor="ctr">
                    <a:lnL>
                      <a:noFill/>
                    </a:lnL>
                    <a:lnR>
                      <a:noFill/>
                    </a:lnR>
                    <a:lnT>
                      <a:noFill/>
                    </a:lnT>
                    <a:lnB>
                      <a:noFill/>
                    </a:lnB>
                    <a:noFill/>
                  </a:tcPr>
                </a:tc>
                <a:extLst>
                  <a:ext uri="{0D108BD9-81ED-4DB2-BD59-A6C34878D82A}">
                    <a16:rowId xmlns:a16="http://schemas.microsoft.com/office/drawing/2014/main" val="3437469106"/>
                  </a:ext>
                </a:extLst>
              </a:tr>
            </a:tbl>
          </a:graphicData>
        </a:graphic>
      </p:graphicFrame>
    </p:spTree>
    <p:extLst>
      <p:ext uri="{BB962C8B-B14F-4D97-AF65-F5344CB8AC3E}">
        <p14:creationId xmlns:p14="http://schemas.microsoft.com/office/powerpoint/2010/main" val="2499452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2D6C7-530A-BAE8-27EF-39CE6A694F6D}"/>
              </a:ext>
            </a:extLst>
          </p:cNvPr>
          <p:cNvSpPr>
            <a:spLocks noGrp="1"/>
          </p:cNvSpPr>
          <p:nvPr>
            <p:ph type="title"/>
          </p:nvPr>
        </p:nvSpPr>
        <p:spPr>
          <a:xfrm>
            <a:off x="2231136" y="217440"/>
            <a:ext cx="7729728" cy="696960"/>
          </a:xfrm>
        </p:spPr>
        <p:txBody>
          <a:bodyPr>
            <a:normAutofit fontScale="90000"/>
          </a:bodyPr>
          <a:lstStyle/>
          <a:p>
            <a:r>
              <a:rPr lang="en-IN" dirty="0"/>
              <a:t>Data preprocessing</a:t>
            </a:r>
          </a:p>
        </p:txBody>
      </p:sp>
      <p:graphicFrame>
        <p:nvGraphicFramePr>
          <p:cNvPr id="4" name="Content Placeholder 3">
            <a:extLst>
              <a:ext uri="{FF2B5EF4-FFF2-40B4-BE49-F238E27FC236}">
                <a16:creationId xmlns:a16="http://schemas.microsoft.com/office/drawing/2014/main" id="{AEF242EE-AD78-FEA2-FB9C-BDB4066E98AF}"/>
              </a:ext>
            </a:extLst>
          </p:cNvPr>
          <p:cNvGraphicFramePr>
            <a:graphicFrameLocks noGrp="1"/>
          </p:cNvGraphicFramePr>
          <p:nvPr>
            <p:ph idx="1"/>
            <p:extLst>
              <p:ext uri="{D42A27DB-BD31-4B8C-83A1-F6EECF244321}">
                <p14:modId xmlns:p14="http://schemas.microsoft.com/office/powerpoint/2010/main" val="1111009785"/>
              </p:ext>
            </p:extLst>
          </p:nvPr>
        </p:nvGraphicFramePr>
        <p:xfrm>
          <a:off x="344129" y="1110005"/>
          <a:ext cx="11523405" cy="5288176"/>
        </p:xfrm>
        <a:graphic>
          <a:graphicData uri="http://schemas.openxmlformats.org/drawingml/2006/table">
            <a:tbl>
              <a:tblPr>
                <a:tableStyleId>{616DA210-FB5B-4158-B5E0-FEB733F419BA}</a:tableStyleId>
              </a:tblPr>
              <a:tblGrid>
                <a:gridCol w="3841135">
                  <a:extLst>
                    <a:ext uri="{9D8B030D-6E8A-4147-A177-3AD203B41FA5}">
                      <a16:colId xmlns:a16="http://schemas.microsoft.com/office/drawing/2014/main" val="4241951798"/>
                    </a:ext>
                  </a:extLst>
                </a:gridCol>
                <a:gridCol w="3841135">
                  <a:extLst>
                    <a:ext uri="{9D8B030D-6E8A-4147-A177-3AD203B41FA5}">
                      <a16:colId xmlns:a16="http://schemas.microsoft.com/office/drawing/2014/main" val="615505737"/>
                    </a:ext>
                  </a:extLst>
                </a:gridCol>
                <a:gridCol w="3841135">
                  <a:extLst>
                    <a:ext uri="{9D8B030D-6E8A-4147-A177-3AD203B41FA5}">
                      <a16:colId xmlns:a16="http://schemas.microsoft.com/office/drawing/2014/main" val="810241960"/>
                    </a:ext>
                  </a:extLst>
                </a:gridCol>
              </a:tblGrid>
              <a:tr h="335337">
                <a:tc>
                  <a:txBody>
                    <a:bodyPr/>
                    <a:lstStyle/>
                    <a:p>
                      <a:pPr algn="ctr">
                        <a:buNone/>
                      </a:pPr>
                      <a:r>
                        <a:rPr lang="en-IN" sz="1200" b="1" dirty="0"/>
                        <a:t>Step</a:t>
                      </a:r>
                      <a:endParaRPr lang="en-IN" sz="1200" dirty="0"/>
                    </a:p>
                  </a:txBody>
                  <a:tcPr marL="20013" marR="20013" marT="10006" marB="10006" anchor="ctr"/>
                </a:tc>
                <a:tc>
                  <a:txBody>
                    <a:bodyPr/>
                    <a:lstStyle/>
                    <a:p>
                      <a:pPr algn="ctr">
                        <a:buNone/>
                      </a:pPr>
                      <a:r>
                        <a:rPr lang="en-IN" sz="1200" b="1"/>
                        <a:t>Function(s)</a:t>
                      </a:r>
                      <a:endParaRPr lang="en-IN" sz="1200"/>
                    </a:p>
                  </a:txBody>
                  <a:tcPr marL="20013" marR="20013" marT="10006" marB="10006" anchor="ctr"/>
                </a:tc>
                <a:tc>
                  <a:txBody>
                    <a:bodyPr/>
                    <a:lstStyle/>
                    <a:p>
                      <a:pPr algn="ctr">
                        <a:buNone/>
                      </a:pPr>
                      <a:r>
                        <a:rPr lang="en-IN" sz="1200" b="1"/>
                        <a:t>Purpose</a:t>
                      </a:r>
                      <a:endParaRPr lang="en-IN" sz="1200"/>
                    </a:p>
                  </a:txBody>
                  <a:tcPr marL="20013" marR="20013" marT="10006" marB="10006" anchor="ctr"/>
                </a:tc>
                <a:extLst>
                  <a:ext uri="{0D108BD9-81ED-4DB2-BD59-A6C34878D82A}">
                    <a16:rowId xmlns:a16="http://schemas.microsoft.com/office/drawing/2014/main" val="1466787602"/>
                  </a:ext>
                </a:extLst>
              </a:tr>
              <a:tr h="786581">
                <a:tc>
                  <a:txBody>
                    <a:bodyPr/>
                    <a:lstStyle/>
                    <a:p>
                      <a:pPr algn="ctr">
                        <a:buNone/>
                      </a:pPr>
                      <a:r>
                        <a:rPr lang="en-IN" sz="1200" b="1" dirty="0"/>
                        <a:t>Importing Libraries</a:t>
                      </a:r>
                      <a:endParaRPr lang="en-IN" sz="1200" dirty="0"/>
                    </a:p>
                  </a:txBody>
                  <a:tcPr marL="20013" marR="20013" marT="10006" marB="10006" anchor="ctr"/>
                </a:tc>
                <a:tc>
                  <a:txBody>
                    <a:bodyPr/>
                    <a:lstStyle/>
                    <a:p>
                      <a:pPr algn="ctr">
                        <a:buNone/>
                      </a:pPr>
                      <a:r>
                        <a:rPr lang="en-IN" sz="1200" dirty="0"/>
                        <a:t>import pandas as pd, import </a:t>
                      </a:r>
                      <a:r>
                        <a:rPr lang="en-IN" sz="1200" dirty="0" err="1"/>
                        <a:t>numpy</a:t>
                      </a:r>
                      <a:r>
                        <a:rPr lang="en-IN" sz="1200" dirty="0"/>
                        <a:t> as np, import seaborn as </a:t>
                      </a:r>
                      <a:r>
                        <a:rPr lang="en-IN" sz="1200" dirty="0" err="1"/>
                        <a:t>sns</a:t>
                      </a:r>
                      <a:r>
                        <a:rPr lang="en-IN" sz="1200" dirty="0"/>
                        <a:t>, import </a:t>
                      </a:r>
                      <a:r>
                        <a:rPr lang="en-IN" sz="1200" dirty="0" err="1"/>
                        <a:t>matplotlib.pyplot</a:t>
                      </a:r>
                      <a:r>
                        <a:rPr lang="en-IN" sz="1200" dirty="0"/>
                        <a:t> as </a:t>
                      </a:r>
                      <a:r>
                        <a:rPr lang="en-IN" sz="1200" dirty="0" err="1"/>
                        <a:t>plt</a:t>
                      </a:r>
                      <a:r>
                        <a:rPr lang="en-IN" sz="1200" dirty="0"/>
                        <a:t>, from </a:t>
                      </a:r>
                      <a:r>
                        <a:rPr lang="en-IN" sz="1200" dirty="0" err="1"/>
                        <a:t>sklearn.preprocessing</a:t>
                      </a:r>
                      <a:r>
                        <a:rPr lang="en-IN" sz="1200" dirty="0"/>
                        <a:t> import </a:t>
                      </a:r>
                      <a:r>
                        <a:rPr lang="en-IN" sz="1200" dirty="0" err="1"/>
                        <a:t>StandardScaler</a:t>
                      </a:r>
                      <a:endParaRPr lang="en-IN" sz="1200" dirty="0"/>
                    </a:p>
                  </a:txBody>
                  <a:tcPr marL="20013" marR="20013" marT="10006" marB="10006" anchor="ctr"/>
                </a:tc>
                <a:tc>
                  <a:txBody>
                    <a:bodyPr/>
                    <a:lstStyle/>
                    <a:p>
                      <a:pPr algn="ctr">
                        <a:buNone/>
                      </a:pPr>
                      <a:r>
                        <a:rPr lang="en-US" sz="1200"/>
                        <a:t>To import all the necessary Python libraries for data manipulation, visualization, and preprocessing.</a:t>
                      </a:r>
                    </a:p>
                  </a:txBody>
                  <a:tcPr marL="20013" marR="20013" marT="10006" marB="10006" anchor="ctr"/>
                </a:tc>
                <a:extLst>
                  <a:ext uri="{0D108BD9-81ED-4DB2-BD59-A6C34878D82A}">
                    <a16:rowId xmlns:a16="http://schemas.microsoft.com/office/drawing/2014/main" val="3447456576"/>
                  </a:ext>
                </a:extLst>
              </a:tr>
              <a:tr h="553478">
                <a:tc>
                  <a:txBody>
                    <a:bodyPr/>
                    <a:lstStyle/>
                    <a:p>
                      <a:pPr algn="ctr">
                        <a:buNone/>
                      </a:pPr>
                      <a:r>
                        <a:rPr lang="en-IN" sz="1200" b="1" dirty="0"/>
                        <a:t>Loading Dataset</a:t>
                      </a:r>
                      <a:endParaRPr lang="en-IN" sz="1200" dirty="0"/>
                    </a:p>
                  </a:txBody>
                  <a:tcPr marL="20013" marR="20013" marT="10006" marB="10006" anchor="ctr"/>
                </a:tc>
                <a:tc>
                  <a:txBody>
                    <a:bodyPr/>
                    <a:lstStyle/>
                    <a:p>
                      <a:pPr algn="ctr">
                        <a:buNone/>
                      </a:pPr>
                      <a:r>
                        <a:rPr lang="en-IN" sz="1200" dirty="0"/>
                        <a:t>data = </a:t>
                      </a:r>
                      <a:r>
                        <a:rPr lang="en-IN" sz="1200" dirty="0" err="1"/>
                        <a:t>pd.read_csv</a:t>
                      </a:r>
                      <a:r>
                        <a:rPr lang="en-IN" sz="1200" dirty="0"/>
                        <a:t>("C:/Users/nrdev/Downloads/greendestination (1).csv")</a:t>
                      </a:r>
                    </a:p>
                  </a:txBody>
                  <a:tcPr marL="20013" marR="20013" marT="10006" marB="10006" anchor="ctr"/>
                </a:tc>
                <a:tc>
                  <a:txBody>
                    <a:bodyPr/>
                    <a:lstStyle/>
                    <a:p>
                      <a:pPr algn="ctr">
                        <a:buNone/>
                      </a:pPr>
                      <a:r>
                        <a:rPr lang="en-US" sz="1200"/>
                        <a:t>To load the employee attrition dataset into a pandas DataFrame for analysis.</a:t>
                      </a:r>
                    </a:p>
                  </a:txBody>
                  <a:tcPr marL="20013" marR="20013" marT="10006" marB="10006" anchor="ctr"/>
                </a:tc>
                <a:extLst>
                  <a:ext uri="{0D108BD9-81ED-4DB2-BD59-A6C34878D82A}">
                    <a16:rowId xmlns:a16="http://schemas.microsoft.com/office/drawing/2014/main" val="477629042"/>
                  </a:ext>
                </a:extLst>
              </a:tr>
              <a:tr h="449701">
                <a:tc>
                  <a:txBody>
                    <a:bodyPr/>
                    <a:lstStyle/>
                    <a:p>
                      <a:pPr algn="ctr">
                        <a:buNone/>
                      </a:pPr>
                      <a:r>
                        <a:rPr lang="en-IN" sz="1200" b="1"/>
                        <a:t>Checking Dataset Info</a:t>
                      </a:r>
                      <a:endParaRPr lang="en-IN" sz="1200"/>
                    </a:p>
                  </a:txBody>
                  <a:tcPr marL="20013" marR="20013" marT="10006" marB="10006" anchor="ctr"/>
                </a:tc>
                <a:tc>
                  <a:txBody>
                    <a:bodyPr/>
                    <a:lstStyle/>
                    <a:p>
                      <a:pPr algn="ctr">
                        <a:buNone/>
                      </a:pPr>
                      <a:r>
                        <a:rPr lang="en-IN" sz="1200" dirty="0" err="1"/>
                        <a:t>data.shape</a:t>
                      </a:r>
                      <a:r>
                        <a:rPr lang="en-IN" sz="1200" dirty="0"/>
                        <a:t>, </a:t>
                      </a:r>
                      <a:r>
                        <a:rPr lang="en-IN" sz="1200" dirty="0" err="1"/>
                        <a:t>data.columns</a:t>
                      </a:r>
                      <a:r>
                        <a:rPr lang="en-IN" sz="1200" dirty="0"/>
                        <a:t>, data.info()</a:t>
                      </a:r>
                    </a:p>
                  </a:txBody>
                  <a:tcPr marL="20013" marR="20013" marT="10006" marB="10006" anchor="ctr"/>
                </a:tc>
                <a:tc>
                  <a:txBody>
                    <a:bodyPr/>
                    <a:lstStyle/>
                    <a:p>
                      <a:pPr algn="ctr">
                        <a:buNone/>
                      </a:pPr>
                      <a:r>
                        <a:rPr lang="en-US" sz="1200"/>
                        <a:t>To understand the dataset’s structure — number of rows, columns, and data types.</a:t>
                      </a:r>
                    </a:p>
                  </a:txBody>
                  <a:tcPr marL="20013" marR="20013" marT="10006" marB="10006" anchor="ctr"/>
                </a:tc>
                <a:extLst>
                  <a:ext uri="{0D108BD9-81ED-4DB2-BD59-A6C34878D82A}">
                    <a16:rowId xmlns:a16="http://schemas.microsoft.com/office/drawing/2014/main" val="2193215635"/>
                  </a:ext>
                </a:extLst>
              </a:tr>
              <a:tr h="345923">
                <a:tc>
                  <a:txBody>
                    <a:bodyPr/>
                    <a:lstStyle/>
                    <a:p>
                      <a:pPr algn="ctr">
                        <a:buNone/>
                      </a:pPr>
                      <a:r>
                        <a:rPr lang="en-IN" sz="1200" b="1"/>
                        <a:t>Checking Missing Values</a:t>
                      </a:r>
                      <a:endParaRPr lang="en-IN" sz="1200"/>
                    </a:p>
                  </a:txBody>
                  <a:tcPr marL="20013" marR="20013" marT="10006" marB="10006" anchor="ctr"/>
                </a:tc>
                <a:tc>
                  <a:txBody>
                    <a:bodyPr/>
                    <a:lstStyle/>
                    <a:p>
                      <a:pPr algn="ctr">
                        <a:buNone/>
                      </a:pPr>
                      <a:r>
                        <a:rPr lang="en-IN" sz="1200" dirty="0" err="1"/>
                        <a:t>data.isnull</a:t>
                      </a:r>
                      <a:r>
                        <a:rPr lang="en-IN" sz="1200" dirty="0"/>
                        <a:t>().sum()</a:t>
                      </a:r>
                    </a:p>
                  </a:txBody>
                  <a:tcPr marL="20013" marR="20013" marT="10006" marB="10006" anchor="ctr"/>
                </a:tc>
                <a:tc>
                  <a:txBody>
                    <a:bodyPr/>
                    <a:lstStyle/>
                    <a:p>
                      <a:pPr algn="ctr">
                        <a:buNone/>
                      </a:pPr>
                      <a:r>
                        <a:rPr lang="en-US" sz="1200"/>
                        <a:t>To identify if any columns contain missing or null values.</a:t>
                      </a:r>
                    </a:p>
                  </a:txBody>
                  <a:tcPr marL="20013" marR="20013" marT="10006" marB="10006" anchor="ctr"/>
                </a:tc>
                <a:extLst>
                  <a:ext uri="{0D108BD9-81ED-4DB2-BD59-A6C34878D82A}">
                    <a16:rowId xmlns:a16="http://schemas.microsoft.com/office/drawing/2014/main" val="2130951782"/>
                  </a:ext>
                </a:extLst>
              </a:tr>
              <a:tr h="242146">
                <a:tc>
                  <a:txBody>
                    <a:bodyPr/>
                    <a:lstStyle/>
                    <a:p>
                      <a:pPr algn="ctr">
                        <a:buNone/>
                      </a:pPr>
                      <a:r>
                        <a:rPr lang="en-IN" sz="1200" b="1"/>
                        <a:t>Checking Duplicates</a:t>
                      </a:r>
                      <a:endParaRPr lang="en-IN" sz="1200"/>
                    </a:p>
                  </a:txBody>
                  <a:tcPr marL="20013" marR="20013" marT="10006" marB="10006" anchor="ctr"/>
                </a:tc>
                <a:tc>
                  <a:txBody>
                    <a:bodyPr/>
                    <a:lstStyle/>
                    <a:p>
                      <a:pPr algn="ctr">
                        <a:buNone/>
                      </a:pPr>
                      <a:r>
                        <a:rPr lang="en-IN" sz="1200" dirty="0" err="1"/>
                        <a:t>data.duplicated</a:t>
                      </a:r>
                      <a:r>
                        <a:rPr lang="en-IN" sz="1200" dirty="0"/>
                        <a:t>().sum()</a:t>
                      </a:r>
                    </a:p>
                  </a:txBody>
                  <a:tcPr marL="20013" marR="20013" marT="10006" marB="10006" anchor="ctr"/>
                </a:tc>
                <a:tc>
                  <a:txBody>
                    <a:bodyPr/>
                    <a:lstStyle/>
                    <a:p>
                      <a:pPr algn="ctr">
                        <a:buNone/>
                      </a:pPr>
                      <a:r>
                        <a:rPr lang="en-US" sz="1200"/>
                        <a:t>To detect duplicate records in the dataset.</a:t>
                      </a:r>
                    </a:p>
                  </a:txBody>
                  <a:tcPr marL="20013" marR="20013" marT="10006" marB="10006" anchor="ctr"/>
                </a:tc>
                <a:extLst>
                  <a:ext uri="{0D108BD9-81ED-4DB2-BD59-A6C34878D82A}">
                    <a16:rowId xmlns:a16="http://schemas.microsoft.com/office/drawing/2014/main" val="3294851755"/>
                  </a:ext>
                </a:extLst>
              </a:tr>
              <a:tr h="553478">
                <a:tc>
                  <a:txBody>
                    <a:bodyPr/>
                    <a:lstStyle/>
                    <a:p>
                      <a:pPr algn="ctr">
                        <a:buNone/>
                      </a:pPr>
                      <a:r>
                        <a:rPr lang="en-IN" sz="1200" b="1"/>
                        <a:t>Outlier Detection</a:t>
                      </a:r>
                      <a:endParaRPr lang="en-IN" sz="1200"/>
                    </a:p>
                  </a:txBody>
                  <a:tcPr marL="20013" marR="20013" marT="10006" marB="10006" anchor="ctr"/>
                </a:tc>
                <a:tc>
                  <a:txBody>
                    <a:bodyPr/>
                    <a:lstStyle/>
                    <a:p>
                      <a:pPr algn="ctr">
                        <a:buNone/>
                      </a:pPr>
                      <a:r>
                        <a:rPr lang="en-US" sz="1200" dirty="0" err="1"/>
                        <a:t>sns.boxplot</a:t>
                      </a:r>
                      <a:r>
                        <a:rPr lang="en-US" sz="1200" dirty="0"/>
                        <a:t>() for numerical columns</a:t>
                      </a:r>
                    </a:p>
                  </a:txBody>
                  <a:tcPr marL="20013" marR="20013" marT="10006" marB="10006" anchor="ctr"/>
                </a:tc>
                <a:tc>
                  <a:txBody>
                    <a:bodyPr/>
                    <a:lstStyle/>
                    <a:p>
                      <a:pPr algn="ctr">
                        <a:buNone/>
                      </a:pPr>
                      <a:r>
                        <a:rPr lang="en-US" sz="1200"/>
                        <a:t>To visualize and detect outliers in continuous variables such as Age, DailyRate, MonthlyIncome, etc.</a:t>
                      </a:r>
                    </a:p>
                  </a:txBody>
                  <a:tcPr marL="20013" marR="20013" marT="10006" marB="10006" anchor="ctr"/>
                </a:tc>
                <a:extLst>
                  <a:ext uri="{0D108BD9-81ED-4DB2-BD59-A6C34878D82A}">
                    <a16:rowId xmlns:a16="http://schemas.microsoft.com/office/drawing/2014/main" val="2796321024"/>
                  </a:ext>
                </a:extLst>
              </a:tr>
              <a:tr h="553478">
                <a:tc>
                  <a:txBody>
                    <a:bodyPr/>
                    <a:lstStyle/>
                    <a:p>
                      <a:pPr algn="ctr">
                        <a:buNone/>
                      </a:pPr>
                      <a:r>
                        <a:rPr lang="en-IN" sz="1200" b="1"/>
                        <a:t>Four Business Moments</a:t>
                      </a:r>
                      <a:endParaRPr lang="en-IN" sz="1200"/>
                    </a:p>
                  </a:txBody>
                  <a:tcPr marL="20013" marR="20013" marT="10006" marB="10006" anchor="ctr"/>
                </a:tc>
                <a:tc>
                  <a:txBody>
                    <a:bodyPr/>
                    <a:lstStyle/>
                    <a:p>
                      <a:pPr algn="ctr">
                        <a:buNone/>
                      </a:pPr>
                      <a:r>
                        <a:rPr lang="en-IN" sz="1200" dirty="0"/>
                        <a:t>mean(), var(), std(), skew(), </a:t>
                      </a:r>
                      <a:r>
                        <a:rPr lang="en-IN" sz="1200" dirty="0" err="1"/>
                        <a:t>kurt</a:t>
                      </a:r>
                      <a:r>
                        <a:rPr lang="en-IN" sz="1200" dirty="0"/>
                        <a:t>()</a:t>
                      </a:r>
                    </a:p>
                  </a:txBody>
                  <a:tcPr marL="20013" marR="20013" marT="10006" marB="10006" anchor="ctr"/>
                </a:tc>
                <a:tc>
                  <a:txBody>
                    <a:bodyPr/>
                    <a:lstStyle/>
                    <a:p>
                      <a:pPr algn="ctr">
                        <a:buNone/>
                      </a:pPr>
                      <a:r>
                        <a:rPr lang="en-US" sz="1200" dirty="0"/>
                        <a:t>To calculate central tendency, dispersion, and shape statistics (Mean, Variance, Std. Dev, Skewness, Kurtosis).</a:t>
                      </a:r>
                    </a:p>
                  </a:txBody>
                  <a:tcPr marL="20013" marR="20013" marT="10006" marB="10006" anchor="ctr"/>
                </a:tc>
                <a:extLst>
                  <a:ext uri="{0D108BD9-81ED-4DB2-BD59-A6C34878D82A}">
                    <a16:rowId xmlns:a16="http://schemas.microsoft.com/office/drawing/2014/main" val="2011090511"/>
                  </a:ext>
                </a:extLst>
              </a:tr>
              <a:tr h="449701">
                <a:tc>
                  <a:txBody>
                    <a:bodyPr/>
                    <a:lstStyle/>
                    <a:p>
                      <a:pPr algn="ctr">
                        <a:buNone/>
                      </a:pPr>
                      <a:r>
                        <a:rPr lang="en-IN" sz="1200" b="1"/>
                        <a:t>Graphical Representation</a:t>
                      </a:r>
                      <a:endParaRPr lang="en-IN" sz="1200"/>
                    </a:p>
                  </a:txBody>
                  <a:tcPr marL="20013" marR="20013" marT="10006" marB="10006" anchor="ctr"/>
                </a:tc>
                <a:tc>
                  <a:txBody>
                    <a:bodyPr/>
                    <a:lstStyle/>
                    <a:p>
                      <a:pPr algn="ctr">
                        <a:buNone/>
                      </a:pPr>
                      <a:r>
                        <a:rPr lang="en-IN" sz="1200" dirty="0" err="1"/>
                        <a:t>sns.countplot</a:t>
                      </a:r>
                      <a:r>
                        <a:rPr lang="en-IN" sz="1200" dirty="0"/>
                        <a:t>(), </a:t>
                      </a:r>
                      <a:r>
                        <a:rPr lang="en-IN" sz="1200" dirty="0" err="1"/>
                        <a:t>sns.histplot</a:t>
                      </a:r>
                      <a:r>
                        <a:rPr lang="en-IN" sz="1200" dirty="0"/>
                        <a:t>(), </a:t>
                      </a:r>
                      <a:r>
                        <a:rPr lang="en-IN" sz="1200" dirty="0" err="1"/>
                        <a:t>sns.boxplot</a:t>
                      </a:r>
                      <a:r>
                        <a:rPr lang="en-IN" sz="1200" dirty="0"/>
                        <a:t>()</a:t>
                      </a:r>
                    </a:p>
                  </a:txBody>
                  <a:tcPr marL="20013" marR="20013" marT="10006" marB="10006" anchor="ctr"/>
                </a:tc>
                <a:tc>
                  <a:txBody>
                    <a:bodyPr/>
                    <a:lstStyle/>
                    <a:p>
                      <a:pPr algn="ctr">
                        <a:buNone/>
                      </a:pPr>
                      <a:r>
                        <a:rPr lang="en-US" sz="1200" dirty="0"/>
                        <a:t>To visualize distributions and relationships — e.g., Age vs Attrition, Monthly Income vs Attrition.</a:t>
                      </a:r>
                    </a:p>
                  </a:txBody>
                  <a:tcPr marL="20013" marR="20013" marT="10006" marB="10006" anchor="ctr"/>
                </a:tc>
                <a:extLst>
                  <a:ext uri="{0D108BD9-81ED-4DB2-BD59-A6C34878D82A}">
                    <a16:rowId xmlns:a16="http://schemas.microsoft.com/office/drawing/2014/main" val="369019386"/>
                  </a:ext>
                </a:extLst>
              </a:tr>
              <a:tr h="553478">
                <a:tc>
                  <a:txBody>
                    <a:bodyPr/>
                    <a:lstStyle/>
                    <a:p>
                      <a:pPr algn="ctr">
                        <a:buNone/>
                      </a:pPr>
                      <a:r>
                        <a:rPr lang="en-IN" sz="1200" b="1"/>
                        <a:t>Correlation Analysis</a:t>
                      </a:r>
                      <a:endParaRPr lang="en-IN" sz="1200"/>
                    </a:p>
                  </a:txBody>
                  <a:tcPr marL="20013" marR="20013" marT="10006" marB="10006" anchor="ctr"/>
                </a:tc>
                <a:tc>
                  <a:txBody>
                    <a:bodyPr/>
                    <a:lstStyle/>
                    <a:p>
                      <a:pPr algn="ctr">
                        <a:buNone/>
                      </a:pPr>
                      <a:r>
                        <a:rPr lang="en-IN" sz="1200"/>
                        <a:t>sns.heatmap(num_df.corr())</a:t>
                      </a:r>
                    </a:p>
                  </a:txBody>
                  <a:tcPr marL="20013" marR="20013" marT="10006" marB="10006" anchor="ctr"/>
                </a:tc>
                <a:tc>
                  <a:txBody>
                    <a:bodyPr/>
                    <a:lstStyle/>
                    <a:p>
                      <a:pPr algn="ctr">
                        <a:buNone/>
                      </a:pPr>
                      <a:r>
                        <a:rPr lang="en-US" sz="1200" dirty="0"/>
                        <a:t>To identify correlations between numerical variables and understand relationships among features.</a:t>
                      </a:r>
                    </a:p>
                  </a:txBody>
                  <a:tcPr marL="20013" marR="20013" marT="10006" marB="10006" anchor="ctr"/>
                </a:tc>
                <a:extLst>
                  <a:ext uri="{0D108BD9-81ED-4DB2-BD59-A6C34878D82A}">
                    <a16:rowId xmlns:a16="http://schemas.microsoft.com/office/drawing/2014/main" val="1569380200"/>
                  </a:ext>
                </a:extLst>
              </a:tr>
              <a:tr h="449701">
                <a:tc>
                  <a:txBody>
                    <a:bodyPr/>
                    <a:lstStyle/>
                    <a:p>
                      <a:pPr algn="ctr">
                        <a:buNone/>
                      </a:pPr>
                      <a:r>
                        <a:rPr lang="en-IN" sz="1200" b="1"/>
                        <a:t>Attrition Rate Calculation</a:t>
                      </a:r>
                      <a:endParaRPr lang="en-IN" sz="1200"/>
                    </a:p>
                  </a:txBody>
                  <a:tcPr marL="20013" marR="20013" marT="10006" marB="10006" anchor="ctr"/>
                </a:tc>
                <a:tc>
                  <a:txBody>
                    <a:bodyPr/>
                    <a:lstStyle/>
                    <a:p>
                      <a:pPr algn="ctr">
                        <a:buNone/>
                      </a:pPr>
                      <a:r>
                        <a:rPr lang="en-US" sz="1200"/>
                        <a:t>data['Attrition'].value_counts(normalize=True).get('Yes', 0) * 100</a:t>
                      </a:r>
                    </a:p>
                  </a:txBody>
                  <a:tcPr marL="20013" marR="20013" marT="10006" marB="10006" anchor="ctr"/>
                </a:tc>
                <a:tc>
                  <a:txBody>
                    <a:bodyPr/>
                    <a:lstStyle/>
                    <a:p>
                      <a:pPr algn="ctr">
                        <a:buNone/>
                      </a:pPr>
                      <a:r>
                        <a:rPr lang="en-US" sz="1200" dirty="0"/>
                        <a:t>To calculate the percentage of employees who have left the company (Attrition Rate).</a:t>
                      </a:r>
                    </a:p>
                  </a:txBody>
                  <a:tcPr marL="20013" marR="20013" marT="10006" marB="10006" anchor="ctr"/>
                </a:tc>
                <a:extLst>
                  <a:ext uri="{0D108BD9-81ED-4DB2-BD59-A6C34878D82A}">
                    <a16:rowId xmlns:a16="http://schemas.microsoft.com/office/drawing/2014/main" val="932547004"/>
                  </a:ext>
                </a:extLst>
              </a:tr>
            </a:tbl>
          </a:graphicData>
        </a:graphic>
      </p:graphicFrame>
    </p:spTree>
    <p:extLst>
      <p:ext uri="{BB962C8B-B14F-4D97-AF65-F5344CB8AC3E}">
        <p14:creationId xmlns:p14="http://schemas.microsoft.com/office/powerpoint/2010/main" val="1304013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3016C4-78E5-5B08-2CDE-3B4E499CDC89}"/>
              </a:ext>
            </a:extLst>
          </p:cNvPr>
          <p:cNvSpPr>
            <a:spLocks noGrp="1"/>
          </p:cNvSpPr>
          <p:nvPr>
            <p:ph type="title"/>
          </p:nvPr>
        </p:nvSpPr>
        <p:spPr>
          <a:xfrm>
            <a:off x="2231136" y="246937"/>
            <a:ext cx="7729728" cy="824779"/>
          </a:xfrm>
        </p:spPr>
        <p:txBody>
          <a:bodyPr/>
          <a:lstStyle/>
          <a:p>
            <a:r>
              <a:rPr lang="en-IN" dirty="0"/>
              <a:t>Data visualization</a:t>
            </a:r>
          </a:p>
        </p:txBody>
      </p:sp>
      <p:pic>
        <p:nvPicPr>
          <p:cNvPr id="4" name="Picture 3">
            <a:extLst>
              <a:ext uri="{FF2B5EF4-FFF2-40B4-BE49-F238E27FC236}">
                <a16:creationId xmlns:a16="http://schemas.microsoft.com/office/drawing/2014/main" id="{8E2CB092-F657-D66D-1344-C329785F97A2}"/>
              </a:ext>
            </a:extLst>
          </p:cNvPr>
          <p:cNvPicPr>
            <a:picLocks noChangeAspect="1"/>
          </p:cNvPicPr>
          <p:nvPr/>
        </p:nvPicPr>
        <p:blipFill>
          <a:blip r:embed="rId2"/>
          <a:stretch>
            <a:fillRect/>
          </a:stretch>
        </p:blipFill>
        <p:spPr>
          <a:xfrm>
            <a:off x="938980" y="1203511"/>
            <a:ext cx="10314039" cy="5225432"/>
          </a:xfrm>
          <a:prstGeom prst="rect">
            <a:avLst/>
          </a:prstGeom>
        </p:spPr>
      </p:pic>
    </p:spTree>
    <p:extLst>
      <p:ext uri="{BB962C8B-B14F-4D97-AF65-F5344CB8AC3E}">
        <p14:creationId xmlns:p14="http://schemas.microsoft.com/office/powerpoint/2010/main" val="1480158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F9CF5-9E62-59AB-220C-E9F6FC2B00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CEA80-6F62-7017-5952-58BE34331543}"/>
              </a:ext>
            </a:extLst>
          </p:cNvPr>
          <p:cNvSpPr>
            <a:spLocks noGrp="1"/>
          </p:cNvSpPr>
          <p:nvPr>
            <p:ph type="title"/>
          </p:nvPr>
        </p:nvSpPr>
        <p:spPr>
          <a:xfrm>
            <a:off x="2231136" y="246937"/>
            <a:ext cx="7729728" cy="824779"/>
          </a:xfrm>
        </p:spPr>
        <p:txBody>
          <a:bodyPr/>
          <a:lstStyle/>
          <a:p>
            <a:r>
              <a:rPr lang="en-IN" dirty="0"/>
              <a:t>Data visualization</a:t>
            </a:r>
          </a:p>
        </p:txBody>
      </p:sp>
      <p:pic>
        <p:nvPicPr>
          <p:cNvPr id="5" name="Picture 4">
            <a:extLst>
              <a:ext uri="{FF2B5EF4-FFF2-40B4-BE49-F238E27FC236}">
                <a16:creationId xmlns:a16="http://schemas.microsoft.com/office/drawing/2014/main" id="{A00161D5-10D0-A858-4A9B-24D9D2BAD743}"/>
              </a:ext>
            </a:extLst>
          </p:cNvPr>
          <p:cNvPicPr>
            <a:picLocks noChangeAspect="1"/>
          </p:cNvPicPr>
          <p:nvPr/>
        </p:nvPicPr>
        <p:blipFill>
          <a:blip r:embed="rId2"/>
          <a:stretch>
            <a:fillRect/>
          </a:stretch>
        </p:blipFill>
        <p:spPr>
          <a:xfrm>
            <a:off x="932876" y="1214654"/>
            <a:ext cx="10326248" cy="5254971"/>
          </a:xfrm>
          <a:prstGeom prst="rect">
            <a:avLst/>
          </a:prstGeom>
        </p:spPr>
      </p:pic>
    </p:spTree>
    <p:extLst>
      <p:ext uri="{BB962C8B-B14F-4D97-AF65-F5344CB8AC3E}">
        <p14:creationId xmlns:p14="http://schemas.microsoft.com/office/powerpoint/2010/main" val="31837619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090483-7B47-4562-2268-36F07BF30A17}"/>
              </a:ext>
            </a:extLst>
          </p:cNvPr>
          <p:cNvSpPr>
            <a:spLocks noGrp="1"/>
          </p:cNvSpPr>
          <p:nvPr>
            <p:ph type="title"/>
          </p:nvPr>
        </p:nvSpPr>
        <p:spPr>
          <a:xfrm>
            <a:off x="2231136" y="364924"/>
            <a:ext cx="7729728" cy="1188720"/>
          </a:xfrm>
        </p:spPr>
        <p:txBody>
          <a:bodyPr/>
          <a:lstStyle/>
          <a:p>
            <a:r>
              <a:rPr lang="en-IN" dirty="0"/>
              <a:t>Key performance indicators</a:t>
            </a:r>
          </a:p>
        </p:txBody>
      </p:sp>
      <p:sp>
        <p:nvSpPr>
          <p:cNvPr id="3" name="Content Placeholder 2">
            <a:extLst>
              <a:ext uri="{FF2B5EF4-FFF2-40B4-BE49-F238E27FC236}">
                <a16:creationId xmlns:a16="http://schemas.microsoft.com/office/drawing/2014/main" id="{9D663118-3491-719F-54D9-B00F956A5E21}"/>
              </a:ext>
            </a:extLst>
          </p:cNvPr>
          <p:cNvSpPr>
            <a:spLocks noGrp="1"/>
          </p:cNvSpPr>
          <p:nvPr>
            <p:ph idx="1"/>
          </p:nvPr>
        </p:nvSpPr>
        <p:spPr>
          <a:xfrm>
            <a:off x="2231136" y="1880959"/>
            <a:ext cx="7729728" cy="4612117"/>
          </a:xfrm>
        </p:spPr>
        <p:txBody>
          <a:bodyPr>
            <a:normAutofit/>
          </a:bodyPr>
          <a:lstStyle/>
          <a:p>
            <a:r>
              <a:rPr lang="en-US" dirty="0"/>
              <a:t>Overall attrition rate: 16.12%</a:t>
            </a:r>
          </a:p>
          <a:p>
            <a:r>
              <a:rPr lang="en-US" dirty="0"/>
              <a:t>Average employee age: 36.92 years</a:t>
            </a:r>
          </a:p>
          <a:p>
            <a:r>
              <a:rPr lang="en-US" dirty="0"/>
              <a:t>Highest attrition observed among. </a:t>
            </a:r>
          </a:p>
          <a:p>
            <a:r>
              <a:rPr lang="en-US" dirty="0"/>
              <a:t>Sales Representatives, Sales Executives, and Laboratory Technicians.</a:t>
            </a:r>
          </a:p>
          <a:p>
            <a:r>
              <a:rPr lang="en-US" dirty="0"/>
              <a:t>Managers and Healthcare professionals show the lowest attrition rates.</a:t>
            </a:r>
          </a:p>
          <a:p>
            <a:r>
              <a:rPr lang="en-US" dirty="0"/>
              <a:t>Employees aged 26–35 years have the highest attrition, suggesting mid-career turnover.</a:t>
            </a:r>
          </a:p>
          <a:p>
            <a:r>
              <a:rPr lang="en-US" dirty="0"/>
              <a:t>Female attrition rate is slightly higher compared to males.</a:t>
            </a:r>
          </a:p>
          <a:p>
            <a:r>
              <a:rPr lang="en-US" dirty="0"/>
              <a:t>Employees with Technical and Marketing degrees show the highest attrition percentages (up to 50%).</a:t>
            </a:r>
          </a:p>
          <a:p>
            <a:r>
              <a:rPr lang="en-US" dirty="0"/>
              <a:t>In Human Resources, attrition is high among employees with unrelated educational backgrounds.</a:t>
            </a:r>
          </a:p>
        </p:txBody>
      </p:sp>
    </p:spTree>
    <p:extLst>
      <p:ext uri="{BB962C8B-B14F-4D97-AF65-F5344CB8AC3E}">
        <p14:creationId xmlns:p14="http://schemas.microsoft.com/office/powerpoint/2010/main" val="3668369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70711-FE2B-0A64-BEDF-65BB7DCBA538}"/>
              </a:ext>
            </a:extLst>
          </p:cNvPr>
          <p:cNvSpPr>
            <a:spLocks noGrp="1"/>
          </p:cNvSpPr>
          <p:nvPr>
            <p:ph type="title"/>
          </p:nvPr>
        </p:nvSpPr>
        <p:spPr/>
        <p:txBody>
          <a:bodyPr/>
          <a:lstStyle/>
          <a:p>
            <a:r>
              <a:rPr lang="en-IN" dirty="0"/>
              <a:t>Key takeaways</a:t>
            </a:r>
          </a:p>
        </p:txBody>
      </p:sp>
      <p:sp>
        <p:nvSpPr>
          <p:cNvPr id="3" name="Content Placeholder 2">
            <a:extLst>
              <a:ext uri="{FF2B5EF4-FFF2-40B4-BE49-F238E27FC236}">
                <a16:creationId xmlns:a16="http://schemas.microsoft.com/office/drawing/2014/main" id="{602C06CB-9D7B-335C-BAB6-077A9CD3D033}"/>
              </a:ext>
            </a:extLst>
          </p:cNvPr>
          <p:cNvSpPr>
            <a:spLocks noGrp="1"/>
          </p:cNvSpPr>
          <p:nvPr>
            <p:ph idx="1"/>
          </p:nvPr>
        </p:nvSpPr>
        <p:spPr/>
        <p:txBody>
          <a:bodyPr/>
          <a:lstStyle/>
          <a:p>
            <a:r>
              <a:rPr lang="en-US" dirty="0"/>
              <a:t>Early-stage employees (within 2 years) are most likely to leave — indicating a need to strengthen onboarding and retention programs.</a:t>
            </a:r>
          </a:p>
          <a:p>
            <a:r>
              <a:rPr lang="en-US" dirty="0"/>
              <a:t>Mid-career professionals (26–35 years) may be seeking career growth or better compensation.</a:t>
            </a:r>
          </a:p>
          <a:p>
            <a:r>
              <a:rPr lang="en-US" dirty="0"/>
              <a:t>Sales-related roles require focused engagement and performance incentives to reduce turnover.</a:t>
            </a:r>
          </a:p>
          <a:p>
            <a:r>
              <a:rPr lang="en-US" dirty="0"/>
              <a:t>Educational mismatch in certain roles may be contributing to higher attrition rates.</a:t>
            </a:r>
            <a:endParaRPr lang="en-IN" dirty="0"/>
          </a:p>
        </p:txBody>
      </p:sp>
    </p:spTree>
    <p:extLst>
      <p:ext uri="{BB962C8B-B14F-4D97-AF65-F5344CB8AC3E}">
        <p14:creationId xmlns:p14="http://schemas.microsoft.com/office/powerpoint/2010/main" val="33373726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FC8CEF-9393-E065-67FD-E6208CC3517E}"/>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D9135BE5-3C29-6CF6-A4F0-70FED8BCCDC7}"/>
              </a:ext>
            </a:extLst>
          </p:cNvPr>
          <p:cNvSpPr>
            <a:spLocks noGrp="1"/>
          </p:cNvSpPr>
          <p:nvPr>
            <p:ph idx="1"/>
          </p:nvPr>
        </p:nvSpPr>
        <p:spPr>
          <a:xfrm>
            <a:off x="6726248" y="678111"/>
            <a:ext cx="4815840" cy="5743613"/>
          </a:xfrm>
        </p:spPr>
        <p:txBody>
          <a:bodyPr>
            <a:normAutofit/>
          </a:bodyPr>
          <a:lstStyle/>
          <a:p>
            <a:pPr marL="0" indent="0">
              <a:buNone/>
            </a:pPr>
            <a:r>
              <a:rPr lang="en-US" dirty="0"/>
              <a:t>In conclusion, the HR analysis for </a:t>
            </a:r>
            <a:r>
              <a:rPr lang="en-US" dirty="0" err="1"/>
              <a:t>GreenDestinations</a:t>
            </a:r>
            <a:r>
              <a:rPr lang="en-US" dirty="0"/>
              <a:t> highlights a moderate attrition rate of 16.12%, with the highest turnover observed among sales and technical roles, particularly within the first two years of employment. The findings emphasize the need for stronger onboarding, employee engagement, and targeted retention strategies, especially for mid-career professionals aged 26–35. Addressing factors such as role mismatch, limited growth opportunities, and workload imbalance can significantly improve retention. By fostering career development, inclusivity, and well-being initiatives, </a:t>
            </a:r>
            <a:r>
              <a:rPr lang="en-US" dirty="0" err="1"/>
              <a:t>GreenDestinations</a:t>
            </a:r>
            <a:r>
              <a:rPr lang="en-US" dirty="0"/>
              <a:t> can enhance employee satisfaction, reduce early attrition, and build a more motivated, stable, and high-performing workforce aligned with organizational goals.</a:t>
            </a:r>
          </a:p>
          <a:p>
            <a:endParaRPr lang="en-IN" dirty="0"/>
          </a:p>
        </p:txBody>
      </p:sp>
    </p:spTree>
    <p:extLst>
      <p:ext uri="{BB962C8B-B14F-4D97-AF65-F5344CB8AC3E}">
        <p14:creationId xmlns:p14="http://schemas.microsoft.com/office/powerpoint/2010/main" val="27433703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F29CB6-7D9C-1106-35DF-86EB1E3FEAA0}"/>
              </a:ext>
            </a:extLst>
          </p:cNvPr>
          <p:cNvSpPr>
            <a:spLocks noGrp="1"/>
          </p:cNvSpPr>
          <p:nvPr>
            <p:ph type="title"/>
          </p:nvPr>
        </p:nvSpPr>
        <p:spPr/>
        <p:txBody>
          <a:bodyPr/>
          <a:lstStyle/>
          <a:p>
            <a:r>
              <a:rPr lang="en-IN" dirty="0"/>
              <a:t>The end</a:t>
            </a:r>
          </a:p>
        </p:txBody>
      </p:sp>
    </p:spTree>
    <p:extLst>
      <p:ext uri="{BB962C8B-B14F-4D97-AF65-F5344CB8AC3E}">
        <p14:creationId xmlns:p14="http://schemas.microsoft.com/office/powerpoint/2010/main" val="34252661"/>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71C241A9-A460-4AD1-916F-25308628A5BC}"/>
    </a:ext>
  </a:extLst>
</a:theme>
</file>

<file path=docProps/app.xml><?xml version="1.0" encoding="utf-8"?>
<Properties xmlns="http://schemas.openxmlformats.org/officeDocument/2006/extended-properties" xmlns:vt="http://schemas.openxmlformats.org/officeDocument/2006/docPropsVTypes">
  <Template>TM10001115[[fn=Parcel]]</Template>
  <TotalTime>345</TotalTime>
  <Words>1222</Words>
  <Application>Microsoft Office PowerPoint</Application>
  <PresentationFormat>Widescreen</PresentationFormat>
  <Paragraphs>316</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Gill Sans MT</vt:lpstr>
      <vt:lpstr>Parcel</vt:lpstr>
      <vt:lpstr>Green destinations</vt:lpstr>
      <vt:lpstr>Project Statement</vt:lpstr>
      <vt:lpstr>Objective</vt:lpstr>
      <vt:lpstr>Project Architecture – Data Flow Diagram</vt:lpstr>
      <vt:lpstr>Data dictionary</vt:lpstr>
      <vt:lpstr>Data dictionary</vt:lpstr>
      <vt:lpstr>Data dictionary</vt:lpstr>
      <vt:lpstr>Exploratory Data Analysis</vt:lpstr>
      <vt:lpstr>Exploratory Data Analysis</vt:lpstr>
      <vt:lpstr>Data preprocessing</vt:lpstr>
      <vt:lpstr>Data visualization</vt:lpstr>
      <vt:lpstr>Data visualization</vt:lpstr>
      <vt:lpstr>Key performance indicators</vt:lpstr>
      <vt:lpstr>Key takeaways</vt:lpstr>
      <vt:lpstr>conclusion</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Ramya Devi Nissankararao</dc:creator>
  <cp:lastModifiedBy>Ramya Devi Nissankararao</cp:lastModifiedBy>
  <cp:revision>1</cp:revision>
  <dcterms:created xsi:type="dcterms:W3CDTF">2025-11-07T04:31:26Z</dcterms:created>
  <dcterms:modified xsi:type="dcterms:W3CDTF">2025-11-07T10:17:24Z</dcterms:modified>
</cp:coreProperties>
</file>